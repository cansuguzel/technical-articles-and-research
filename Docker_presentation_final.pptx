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79" r:id="rId10"/>
    <p:sldId id="264" r:id="rId11"/>
    <p:sldId id="265" r:id="rId12"/>
    <p:sldId id="281" r:id="rId13"/>
    <p:sldId id="267" r:id="rId14"/>
    <p:sldId id="282" r:id="rId15"/>
    <p:sldId id="284" r:id="rId16"/>
    <p:sldId id="270" r:id="rId17"/>
    <p:sldId id="283" r:id="rId18"/>
    <p:sldId id="271" r:id="rId19"/>
    <p:sldId id="272" r:id="rId20"/>
    <p:sldId id="269" r:id="rId21"/>
    <p:sldId id="286" r:id="rId22"/>
    <p:sldId id="273" r:id="rId23"/>
    <p:sldId id="274" r:id="rId24"/>
    <p:sldId id="285" r:id="rId25"/>
    <p:sldId id="277" r:id="rId26"/>
    <p:sldId id="278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271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D126-3DAB-B822-AC0B-12B56D65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AA912-3758-8300-E579-DCAACF4D8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24341-F1C0-AA70-A9DF-80FFC1AA8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0E0C1-1751-5C67-6680-D4D2EE2A4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93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D126-3DAB-B822-AC0B-12B56D65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AA912-3758-8300-E579-DCAACF4D8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24341-F1C0-AA70-A9DF-80FFC1AA8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0E0C1-1751-5C67-6680-D4D2EE2A4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93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QdB7wFEygo&amp;t=48s" TargetMode="External"/><Relationship Id="rId7" Type="http://schemas.openxmlformats.org/officeDocument/2006/relationships/hyperlink" Target="https://bytebytego.com/guides/top-8-must-know-docker-concept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devops/docker-tutorial/" TargetMode="External"/><Relationship Id="rId5" Type="http://schemas.openxmlformats.org/officeDocument/2006/relationships/hyperlink" Target="https://faun.pub/the-ultimate-guide-to-docker-from-novice-to-expert-cf961536c147" TargetMode="External"/><Relationship Id="rId4" Type="http://schemas.openxmlformats.org/officeDocument/2006/relationships/hyperlink" Target="https://pagertree.com/learn/docker/overview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0607040" y="5120640"/>
            <a:ext cx="1463040" cy="146304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22960" cy="82296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Neden Var?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Image'dan Container'a, </a:t>
            </a:r>
            <a:r>
              <a:rPr lang="en-US" sz="1800" dirty="0" err="1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Network'ten</a:t>
            </a:r>
            <a:r>
              <a:rPr lang="en-US" sz="18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Volume'a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297680"/>
            <a:ext cx="822960" cy="54864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Mimarisi: Client · Host · Registry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344168" y="1618488"/>
            <a:ext cx="9473184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Nedir?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5379E9E8-C294-EC9B-BA1D-E90B8EC44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551" y="1404827"/>
            <a:ext cx="9336897" cy="5252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“Benim Bilgisayarımda Çalışıyor” Sorunu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yazılım kendi bilgisayarında çalışır ama sunucuda ya da arkadaşının bilgisayarında çalışmaz.
Sebep: farklı işletim sistemi, farklı kütüphane sürümleri, eksik bağımlılıklar.
</a:t>
            </a:r>
            <a:r>
              <a:rPr lang="en-US" sz="1600" b="1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Docker'ın çözümü: uygulamayı, tüm bağımlılıklarıyla birlikte “bir kutuya” koyup her yerde aynı şekilde çalıştırmak.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19088" y="1618488"/>
            <a:ext cx="4901184" cy="3832672"/>
          </a:xfrm>
          <a:prstGeom prst="roundRect">
            <a:avLst>
              <a:gd name="adj" fmla="val 19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assets/works_on_my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4754880" cy="3686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Nedir?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Olmadan vs Docker İle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Olmadan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Node sürümü farklı
</a:t>
            </a: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 sürümleri farklı
</a:t>
            </a: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/ Redis kurulmamış
</a:t>
            </a: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 ayarları farklı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E8F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309360" y="2084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İle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297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+ ortam paketlenir
</a:t>
            </a:r>
            <a:r>
              <a:rPr lang="en-US" sz="15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image farklı makinelerde çalıştırılır
</a:t>
            </a:r>
            <a:r>
              <a:rPr lang="en-US" sz="15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izole container'larda çalışır
</a:t>
            </a:r>
            <a:r>
              <a:rPr lang="en-US" sz="1550" b="1" dirty="0">
                <a:solidFill>
                  <a:srgbClr val="1B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ve çalıştırma tekrarlanabilir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651760" y="5669280"/>
            <a:ext cx="6858000" cy="50292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651760" y="5669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AYNI UYGULAMA + AYNI ÇALIŞMA ORTAMI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Nedir?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↔ Container Farkı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75488" y="1847088"/>
            <a:ext cx="5221224" cy="2349917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assets/dockerfile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5074920" cy="22036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53328" y="1847088"/>
            <a:ext cx="5221224" cy="2773074"/>
          </a:xfrm>
          <a:prstGeom prst="roundRect">
            <a:avLst>
              <a:gd name="adj" fmla="val 263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assets/container_m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920240"/>
            <a:ext cx="5074920" cy="262677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160520"/>
            <a:ext cx="5074920" cy="457200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6"/>
          <p:cNvSpPr/>
          <p:nvPr/>
        </p:nvSpPr>
        <p:spPr>
          <a:xfrm>
            <a:off x="548640" y="41605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TARİF (Reçete)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4160520"/>
            <a:ext cx="5074920" cy="457200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8"/>
          <p:cNvSpPr/>
          <p:nvPr/>
        </p:nvSpPr>
        <p:spPr>
          <a:xfrm>
            <a:off x="6126480" y="41605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PİŞMİŞ YEMEK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4846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container'ı nasıl oluşturacağını anlatan değişmeyen bir taslaktır. Container ise o taslaktan üretilen, çalışan ve yaşayan gerçek örnektir.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ve Container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Image → Birden Fazla Container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75488" y="1938528"/>
            <a:ext cx="5175504" cy="3233597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assets/image_to_contain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5029200" cy="3087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49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image'dan istediğimiz kadar bağımsız container çalıştırabiliriz — tıpkı aynı tarifle birden fazla tabak yemek pişirmek gibi.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80760" y="2011680"/>
            <a:ext cx="5577840" cy="3703320"/>
          </a:xfrm>
          <a:prstGeom prst="roundRect">
            <a:avLst>
              <a:gd name="adj" fmla="val 1975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3550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Örneği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5080" y="260604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7FD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
</a:t>
            </a:r>
            <a:r>
              <a:rPr lang="en-US" sz="14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COPY . .
RUN pip install -r requirements.txt
</a:t>
            </a:r>
            <a:r>
              <a:rPr lang="en-US" sz="1450" dirty="0">
                <a:solidFill>
                  <a:srgbClr val="A5F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"script.py"]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55080" y="45262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bir “katman” (layer) oluşturur. Docker bu katmanları sırayla işleyip image'ı inşa eder.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Dockerfile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 → Image →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480"/>
                </a:solidFill>
                <a:latin typeface="Aptos"/>
              </a:rPr>
              <a:t>Dockerfile image’ın kendisi değildir; image’ın nasıl oluşturulacağını tarif eder.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074920" cy="4480560"/>
          </a:xfrm>
          <a:prstGeom prst="round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CFFF"/>
                </a:solidFill>
                <a:latin typeface="Aptos"/>
              </a:rPr>
              <a:t>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2628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FROM python:3.12-slim
WORKDIR /app
COPY requirements.txt .
RUN pip install -r requirements.txt
COPY . .
CMD ["python", "app.py"]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2057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508760"/>
            <a:ext cx="68580" cy="9144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645919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93391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talimatlar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508760"/>
            <a:ext cx="2057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15400" y="1508760"/>
            <a:ext cx="68580" cy="9144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25128" y="1645919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docker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1993391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talimatları uygular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54680"/>
            <a:ext cx="2057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154680"/>
            <a:ext cx="68580" cy="914400"/>
          </a:xfrm>
          <a:prstGeom prst="rect">
            <a:avLst/>
          </a:prstGeom>
          <a:solidFill>
            <a:srgbClr val="36A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291840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639312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oluşan kalıp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154680"/>
            <a:ext cx="2057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15400" y="3154680"/>
            <a:ext cx="68580" cy="91440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25128" y="3291840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CONTAINER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639312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image’dan çalışır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58200" y="1965960"/>
            <a:ext cx="393192" cy="0"/>
          </a:xfrm>
          <a:prstGeom prst="line">
            <a:avLst/>
          </a:prstGeom>
          <a:ln w="25400">
            <a:solidFill>
              <a:srgbClr val="249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4927" y="2487168"/>
            <a:ext cx="0" cy="576072"/>
          </a:xfrm>
          <a:prstGeom prst="line">
            <a:avLst/>
          </a:prstGeom>
          <a:ln w="25400">
            <a:solidFill>
              <a:srgbClr val="249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39528" y="2487168"/>
            <a:ext cx="0" cy="576072"/>
          </a:xfrm>
          <a:prstGeom prst="line">
            <a:avLst/>
          </a:prstGeom>
          <a:ln w="25400">
            <a:solidFill>
              <a:srgbClr val="249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26480" y="4709160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Kısaca: Dockerfile = tarif • Image = hazırlanmış paket • Container = çalışan örnek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Caching: Neden Sıralama Önemli?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75488" y="1709928"/>
            <a:ext cx="5266944" cy="3253488"/>
          </a:xfrm>
          <a:prstGeom prst="roundRect">
            <a:avLst>
              <a:gd name="adj" fmla="val 224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assets/layer_ca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120640" cy="3107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80760" y="182880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her satırı bir katman (layer) olarak önbelleğe alır.
</a:t>
            </a:r>
            <a:r>
              <a:rPr lang="en-US" sz="150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katman değişmediyse ✅ Docker onu yeniden çalıştırmaz, önbellekten kullanır → build hızlanır.
Bir katman değiştiyse ❌ o satırdan itibaren her şey yeniden çalıştırılır.
Bu yüzden az değişen adımlar (kurulum) üstte, sık değişenler (kaynak kod) altta yazılır.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01B2D"/>
                </a:solidFill>
                <a:latin typeface="Aptos"/>
              </a:rPr>
              <a:t> `docker run`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arka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planda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 ne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yapıyor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?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188720"/>
            <a:ext cx="4617720" cy="4617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325880"/>
            <a:ext cx="411480" cy="365760"/>
          </a:xfrm>
          <a:prstGeom prst="round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0" y="135788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167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B2D"/>
                </a:solidFill>
                <a:latin typeface="Aptos"/>
              </a:rPr>
              <a:t>Docker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31673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80"/>
                </a:solidFill>
                <a:latin typeface="Aptos"/>
              </a:rPr>
              <a:t>komutu gönderir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103120"/>
            <a:ext cx="411480" cy="365760"/>
          </a:xfrm>
          <a:prstGeom prst="round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213512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939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B2D"/>
                </a:solidFill>
                <a:latin typeface="Aptos"/>
              </a:rPr>
              <a:t>Docker Daemon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9397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80"/>
                </a:solidFill>
                <a:latin typeface="Aptos"/>
              </a:rPr>
              <a:t>isteği yürütür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880360"/>
            <a:ext cx="411480" cy="365760"/>
          </a:xfrm>
          <a:prstGeom prst="round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291236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7121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B2D"/>
                </a:solidFill>
                <a:latin typeface="Aptos"/>
              </a:rPr>
              <a:t>Registry /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87121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80"/>
                </a:solidFill>
                <a:latin typeface="Aptos"/>
              </a:rPr>
              <a:t>image yoksa indirir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657600"/>
            <a:ext cx="411480" cy="365760"/>
          </a:xfrm>
          <a:prstGeom prst="round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368960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484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B2D"/>
                </a:solidFill>
                <a:latin typeface="Aptos"/>
              </a:rPr>
              <a:t>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6484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80"/>
                </a:solidFill>
                <a:latin typeface="Aptos"/>
              </a:rPr>
              <a:t>image’dan oluşturur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4434840"/>
            <a:ext cx="411480" cy="365760"/>
          </a:xfrm>
          <a:prstGeom prst="round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0" y="446684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42569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B2D"/>
                </a:solidFill>
                <a:latin typeface="Aptos"/>
              </a:rPr>
              <a:t>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42569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480"/>
                </a:solidFill>
                <a:latin typeface="Aptos"/>
              </a:rPr>
              <a:t>çalışır ve çıktı verir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YAPISI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66928" y="1709928"/>
            <a:ext cx="4352544" cy="3852242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assets/docker_networks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4206240" cy="37059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0" y="1920240"/>
            <a:ext cx="6126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odev-network
</a:t>
            </a:r>
            <a:r>
              <a:rPr lang="en-US" sz="15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network'e bağlı container'lar birbirini isim üzerinden bulabilir.
Her container izole edilmiş kendi ağ katmanına (namespace) sahiptir, ama ortak network sayesinde güvenle haberleşebilirler.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UYGULAMAMIZ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Client → Server HTTP Haberleşmemiz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2999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python:3.12-slim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GET → http://server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251460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E4EFFA"/>
          </a:solidFill>
          <a:ln w="19050">
            <a:solidFill>
              <a:srgbClr val="2496ED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977640" y="2651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odev-network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94960" y="3154680"/>
            <a:ext cx="1371600" cy="137160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394960" y="3154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23960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823960" y="2999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2396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D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2396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Response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29000" y="3337560"/>
            <a:ext cx="548640" cy="201168"/>
          </a:xfrm>
          <a:prstGeom prst="rightArrow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8183880" y="3337560"/>
            <a:ext cx="548640" cy="201168"/>
          </a:xfrm>
          <a:prstGeom prst="rightArrow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 çözümlemesi: Docker, aynı network içindeki container adını otomatik olarak IP adresine çevirir. Bu yüzden client kodunda sunucunun adını (“server”) yazmak yeterlidir.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B2D"/>
                </a:solidFill>
                <a:latin typeface="Aptos"/>
              </a:rPr>
              <a:t>8. Peki neden `localhost` değil `server`?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480"/>
                </a:solidFill>
                <a:latin typeface="Aptos"/>
              </a:rPr>
              <a:t>Container dünyasında `localhost`, bulunduğun container’ın kendisidir.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480560" cy="416052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6A367"/>
                </a:solidFill>
                <a:latin typeface="Aptos"/>
              </a:rPr>
              <a:t>CLIENT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D24E4E"/>
                </a:solidFill>
                <a:latin typeface="Aptos"/>
              </a:rPr>
              <a:t>localhost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27303A"/>
                </a:solidFill>
                <a:latin typeface="Aptos"/>
              </a:rPr>
              <a:t>→ client’ın kendisi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4983480" cy="4160520"/>
          </a:xfrm>
          <a:prstGeom prst="roundRect">
            <a:avLst/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73736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496ED"/>
                </a:solidFill>
                <a:latin typeface="Aptos"/>
              </a:rPr>
              <a:t>SERVER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51460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2496ED"/>
                </a:solidFill>
                <a:latin typeface="Aptos"/>
              </a:rPr>
              <a:t>http://server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063240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27303A"/>
                </a:solidFill>
                <a:latin typeface="Aptos"/>
              </a:rPr>
              <a:t>→ Docker network’teki server container’ı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49240" y="2743200"/>
            <a:ext cx="960120" cy="0"/>
          </a:xfrm>
          <a:prstGeom prst="line">
            <a:avLst/>
          </a:prstGeom>
          <a:ln w="27940">
            <a:solidFill>
              <a:srgbClr val="249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5806440"/>
            <a:ext cx="6720840" cy="365760"/>
          </a:xfrm>
          <a:prstGeom prst="round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5838444"/>
            <a:ext cx="6629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Container → diğer container: servis/container adı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Mapping: -p 8080:80 Ne Zaman Gerekir?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ÖDEVİMİZ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 bir container, server'a doğrudan Docker network üzerinden ulaşıyor. Host bilgisayarın tarayıcısından erişim gerekmediği için port mapping'e ihtiyacımız olmadı.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76200" dist="25400" dir="5400000" algn="bl" rotWithShape="0">
              <a:srgbClr val="0B1F3A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6629400" y="219456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62940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DIŞARIDAN ERİŞİM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28803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 nginx
</a:t>
            </a:r>
            <a:r>
              <a:rPr lang="en-US" sz="140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makinenin 8080 portunu container'ın 80 portuna bağlar. Tarayıcıdan localhost:8080 yazınca container'daki servise ulaşırsınız — çünkü artık container dışardan görünür.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01B2D"/>
                </a:solidFill>
                <a:latin typeface="Aptos"/>
              </a:rPr>
              <a:t> Docker Volume: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veri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container’dan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bağımsız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yaşar</a:t>
            </a:r>
            <a:endParaRPr sz="2700" b="1" dirty="0">
              <a:solidFill>
                <a:srgbClr val="101B2D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480"/>
                </a:solidFill>
                <a:latin typeface="Aptos"/>
              </a:rPr>
              <a:t>Container geçicidir; kalıcı olması gereken veriyi Volume’a ayırabiliriz.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12264"/>
            <a:ext cx="4754880" cy="24963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89320" y="1508760"/>
            <a:ext cx="20116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89320" y="1508760"/>
            <a:ext cx="68580" cy="914400"/>
          </a:xfrm>
          <a:prstGeom prst="rect">
            <a:avLst/>
          </a:prstGeom>
          <a:solidFill>
            <a:srgbClr val="EF9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9048" y="1645919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Container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993391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mesaj.txt yazar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508760"/>
            <a:ext cx="2148840" cy="914400"/>
          </a:xfrm>
          <a:prstGeom prst="roundRect">
            <a:avLst/>
          </a:prstGeom>
          <a:solidFill>
            <a:srgbClr val="E8F5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49640" y="1508760"/>
            <a:ext cx="68580" cy="914400"/>
          </a:xfrm>
          <a:prstGeom prst="rect">
            <a:avLst/>
          </a:prstGeom>
          <a:solidFill>
            <a:srgbClr val="249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9367" y="1645919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odev-data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7" y="1993391"/>
            <a:ext cx="1929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Docker Volume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383280"/>
            <a:ext cx="20116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3383280"/>
            <a:ext cx="68580" cy="914400"/>
          </a:xfrm>
          <a:prstGeom prst="rect">
            <a:avLst/>
          </a:prstGeom>
          <a:solidFill>
            <a:srgbClr val="36A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8" y="3520440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1B2D"/>
                </a:solidFill>
                <a:latin typeface="Aptos"/>
              </a:rPr>
              <a:t>Container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867912"/>
            <a:ext cx="17922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697480"/>
                </a:solidFill>
                <a:latin typeface="Aptos"/>
              </a:rPr>
              <a:t>mesaj.txt okur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0" y="1965960"/>
            <a:ext cx="411480" cy="0"/>
          </a:xfrm>
          <a:prstGeom prst="line">
            <a:avLst/>
          </a:prstGeom>
          <a:ln w="25400">
            <a:solidFill>
              <a:srgbClr val="EF91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178040" y="2487168"/>
            <a:ext cx="2377440" cy="822960"/>
          </a:xfrm>
          <a:prstGeom prst="line">
            <a:avLst/>
          </a:prstGeom>
          <a:ln w="25400">
            <a:solidFill>
              <a:srgbClr val="249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0" y="4160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Container 1 silinse bile volume kalır.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800600"/>
            <a:ext cx="5303520" cy="64008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01B2D"/>
                </a:solidFill>
                <a:latin typeface="Aptos"/>
              </a:rPr>
              <a:t>Bind Mount ↔ Named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480"/>
                </a:solidFill>
                <a:latin typeface="Aptos"/>
              </a:rPr>
              <a:t>İkisi de container’a dosya/veri bağlar; yönetim şekilleri farklıdır.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448056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7E57C2"/>
                </a:solidFill>
                <a:latin typeface="Aptos"/>
              </a:rPr>
              <a:t>BIND 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303A"/>
                </a:solidFill>
                <a:latin typeface="Aptos"/>
              </a:rPr>
              <a:t>Host klasörü  ↔  Container klasörü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4526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01B2D"/>
                </a:solidFill>
                <a:latin typeface="Aptos"/>
              </a:rPr>
              <a:t>C:\docker-odev
       ↕
/app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496ED"/>
                </a:solidFill>
                <a:latin typeface="Aptos"/>
              </a:rPr>
              <a:t>NAMED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09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303A"/>
                </a:solidFill>
                <a:latin typeface="Aptos"/>
              </a:rPr>
              <a:t>Docker Volume  ↔  Container klasörü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526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01B2D"/>
                </a:solidFill>
                <a:latin typeface="Aptos"/>
              </a:rPr>
              <a:t>odev-data
       ↕
/data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ORKESTRASYON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Çoklu Container Yönetimi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75488" y="1801368"/>
            <a:ext cx="5084064" cy="2871337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assets/multi_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937760" cy="27250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87452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246888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D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
</a:t>
            </a:r>
            <a:r>
              <a:rPr lang="en-US" sz="13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server:
</a:t>
            </a:r>
            <a:r>
              <a:rPr lang="en-US" sz="13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
</a:t>
            </a:r>
            <a:r>
              <a:rPr lang="en-US" sz="13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client:
</a:t>
            </a:r>
            <a:r>
              <a:rPr lang="en-US" sz="13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./client
    depends_on: [server]
</a:t>
            </a:r>
            <a:r>
              <a:rPr lang="en-US" sz="135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worker:
</a:t>
            </a:r>
            <a:r>
              <a:rPr lang="en-US" sz="13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./worker
</a:t>
            </a:r>
            <a:r>
              <a:rPr lang="en-US" sz="1350" dirty="0">
                <a:solidFill>
                  <a:srgbClr val="7FD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
</a:t>
            </a:r>
            <a:r>
              <a:rPr lang="en-US" sz="1350" dirty="0">
                <a:solidFill>
                  <a:srgbClr val="A5F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odev-data: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0" y="5257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komut: docker compose up  →  tüm servisler birlikte ayağa kalkar.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01B2D"/>
                </a:solidFill>
                <a:latin typeface="Aptos"/>
              </a:rPr>
              <a:t> `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compose.yaml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` ne </a:t>
            </a:r>
            <a:r>
              <a:rPr sz="2700" b="1" dirty="0" err="1">
                <a:solidFill>
                  <a:srgbClr val="101B2D"/>
                </a:solidFill>
                <a:latin typeface="Aptos"/>
              </a:rPr>
              <a:t>anlatıyor</a:t>
            </a:r>
            <a:r>
              <a:rPr sz="2700" b="1" dirty="0">
                <a:solidFill>
                  <a:srgbClr val="101B2D"/>
                </a:solidFill>
                <a:latin typeface="Apto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7480"/>
                </a:solidFill>
                <a:latin typeface="Aptos"/>
              </a:rPr>
              <a:t>Compose dosyası sistemin “hangi parçalar var ve nasıl bağlanıyor?” tarifidir.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12080" cy="4892040"/>
          </a:xfrm>
          <a:prstGeom prst="roundRect">
            <a:avLst/>
          </a:prstGeom>
          <a:solidFill>
            <a:srgbClr val="10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CFFF"/>
                </a:solidFill>
                <a:latin typeface="Aptos"/>
              </a:rPr>
              <a:t>compose.yaml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091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Aptos"/>
              </a:rPr>
              <a:t>services:
  server:
    image: nginx
  client:
    image: python:3.12-slim
  worker:
    image: python:3.12-slim
volumes:
  odev-data: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489204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496ED"/>
                </a:solidFill>
                <a:latin typeface="Aptos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7303A"/>
                </a:solidFill>
                <a:latin typeface="Aptos"/>
              </a:rPr>
              <a:t>çalışacak container/servisler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367"/>
                </a:solidFill>
                <a:latin typeface="Aptos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0604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7303A"/>
                </a:solidFill>
                <a:latin typeface="Aptos"/>
              </a:rPr>
              <a:t>hangi image kullanılacak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832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9140"/>
                </a:solidFill>
                <a:latin typeface="Aptos"/>
              </a:rPr>
              <a:t>volumes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38328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7303A"/>
                </a:solidFill>
                <a:latin typeface="Aptos"/>
              </a:rPr>
              <a:t>kalıcı veri alanları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605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E57C2"/>
                </a:solidFill>
                <a:latin typeface="Aptos"/>
              </a:rPr>
              <a:t>networks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16052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7303A"/>
                </a:solidFill>
                <a:latin typeface="Aptos"/>
              </a:rPr>
              <a:t>servislerin iletişim ağı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98348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01B2D"/>
                </a:solidFill>
                <a:latin typeface="Aptos"/>
              </a:rPr>
              <a:t>Özet: Komutları tek tek yazmak yerine sistemi kod olarak tanımlarız.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UYGULAMAMIZ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Python Script'imiz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0B1F3A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A5F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print("Merhaba Docker!")
</a:t>
            </a:r>
            <a:r>
              <a:rPr lang="en-US" sz="1450" dirty="0">
                <a:solidFill>
                  <a:srgbClr val="7FD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
</a:t>
            </a:r>
            <a:r>
              <a:rPr lang="en-US" sz="1450" dirty="0">
                <a:solidFill>
                  <a:srgbClr val="DDE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print(f"Script çalışıyor: {i}")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script Python container'ının içinde çalıştırıldı — host bilgisayarda Python kurulu olmasına gerek kalmadan.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
</a:t>
            </a:r>
            <a:r>
              <a:rPr lang="en-US" sz="150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makinede Python kurulu olsa da olmasa da, script her zaman aynı ortamda ve aynı sonuçla çalışır.
</a:t>
            </a:r>
            <a:r>
              <a:rPr lang="en-US" sz="1500" b="1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Docker'ın temel vaadidir: “benim bilgisayarımda çalışıyor” sorununu ortadan kaldırmak.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Ödevi</a:t>
            </a:r>
            <a:r>
              <a:rPr lang="tr-TR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Genel Mimarisi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2331720"/>
          </a:xfrm>
          <a:prstGeom prst="roundRect">
            <a:avLst>
              <a:gd name="adj" fmla="val 3922"/>
            </a:avLst>
          </a:prstGeom>
          <a:solidFill>
            <a:srgbClr val="E4EFFA"/>
          </a:solidFill>
          <a:ln w="19050">
            <a:solidFill>
              <a:srgbClr val="2496ED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51560" y="1847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odev-network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417320" y="25328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9535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37760" y="25328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29535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:80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58200" y="2331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458200" y="253288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58200" y="295351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2939796"/>
            <a:ext cx="1097280" cy="201168"/>
          </a:xfrm>
          <a:prstGeom prst="rightArrow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749040" y="20391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3040380"/>
            <a:ext cx="1097280" cy="0"/>
          </a:xfrm>
          <a:prstGeom prst="line">
            <a:avLst/>
          </a:prstGeom>
          <a:noFill/>
          <a:ln w="25400">
            <a:solidFill>
              <a:srgbClr val="4FD1C5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269480" y="20391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network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406908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595360" y="40690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odev-data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24060" y="3749040"/>
            <a:ext cx="0" cy="320040"/>
          </a:xfrm>
          <a:prstGeom prst="line">
            <a:avLst/>
          </a:prstGeom>
          <a:noFill/>
          <a:ln w="25400">
            <a:solidFill>
              <a:srgbClr val="F4A340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097280" y="53949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Image'lardan container oluşturduk, aynı network altında HTTP ile haberleştirdik, Python script çalıştırdık, Volume ile veriyi container'dan bağımsız kıldık ve tüm yapıyı Docker Compose ile tek çatı altında topladık.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Mimari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C39E-0862-C9D5-096F-FD616DB6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DD01CA6C-1A42-0516-9563-87CC0A71B715}"/>
              </a:ext>
            </a:extLst>
          </p:cNvPr>
          <p:cNvSpPr/>
          <p:nvPr/>
        </p:nvSpPr>
        <p:spPr>
          <a:xfrm>
            <a:off x="335666" y="300942"/>
            <a:ext cx="11368654" cy="6099858"/>
          </a:xfrm>
          <a:prstGeom prst="roundRect">
            <a:avLst>
              <a:gd name="adj" fmla="val 2376"/>
            </a:avLst>
          </a:prstGeom>
          <a:solidFill>
            <a:srgbClr val="F2F6F8"/>
          </a:solidFill>
          <a:ln w="12700">
            <a:solidFill>
              <a:srgbClr val="E2E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757D9A8-D97A-7C73-4D5E-43898BC5C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17"/>
            <a:ext cx="12192000" cy="684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16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C39E-0862-C9D5-096F-FD616DB6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DD01CA6C-1A42-0516-9563-87CC0A71B715}"/>
              </a:ext>
            </a:extLst>
          </p:cNvPr>
          <p:cNvSpPr/>
          <p:nvPr/>
        </p:nvSpPr>
        <p:spPr>
          <a:xfrm>
            <a:off x="335666" y="300942"/>
            <a:ext cx="11368654" cy="6099858"/>
          </a:xfrm>
          <a:prstGeom prst="roundRect">
            <a:avLst>
              <a:gd name="adj" fmla="val 2376"/>
            </a:avLst>
          </a:prstGeom>
          <a:solidFill>
            <a:srgbClr val="F2F6F8"/>
          </a:solidFill>
          <a:ln w="12700">
            <a:solidFill>
              <a:srgbClr val="E2EAE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21E55B1F-A6F1-C6A2-8652-B7F7B7D4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3" y="0"/>
            <a:ext cx="12115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12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Kullandığımız Docker Komutlarının Mantığı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66928" y="1709928"/>
            <a:ext cx="4352544" cy="3852242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assets/docker_cli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4206240" cy="37059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8288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 / docker run hello-world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2139696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Kurulumu ve ilk container'ı test ettik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0" y="261518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Container'ların birbirini bulacağı ağı kurduk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34015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--network ...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3712464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ve server container'larını ağa bağladık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418795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create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0" y="44988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 için depolama alanı oluşturduk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0" y="4974336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0" y="528523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servisleri tek komutla ayağa kaldırdık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Daha hızlı ve paylaşımlı build'ler için Docker Build Cloud gibi bulut tabanlı build hizmetleri de mevcuttur.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Komutları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Faydalı Debug Komutları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94960" y="187452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ve duran tüm container'ları listeler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48640" y="277977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&lt;container&gt;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94960" y="2779776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Container'ın konsol çıktısını / hata mesajlarını gösterir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85032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&lt;container&gt; bash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94960" y="3685032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bir container'ın içine girip komut çalıştırır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590288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&lt;container&gt;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94960" y="459028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hakkında detaylı ayar ve durum bilgisi verir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563270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şey beklendiği gibi çalışmadığında ilk bakılacak yer: docker ps ile container ayakta mı, docker logs ile neden hata verdi.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7220" y="795528"/>
            <a:ext cx="109728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tr-TR" sz="3200" b="1" dirty="0">
                <a:solidFill>
                  <a:srgbClr val="101B2D"/>
                </a:solidFill>
                <a:latin typeface="Aptos"/>
              </a:rPr>
              <a:t> </a:t>
            </a:r>
            <a:r>
              <a:rPr lang="tr-TR" sz="3200" b="1" dirty="0" err="1">
                <a:solidFill>
                  <a:srgbClr val="101B2D"/>
                </a:solidFill>
                <a:latin typeface="Aptos"/>
              </a:rPr>
              <a:t>Docker’ın</a:t>
            </a:r>
            <a:r>
              <a:rPr lang="tr-TR" sz="32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101B2D"/>
                </a:solidFill>
                <a:latin typeface="Aptos"/>
              </a:rPr>
              <a:t>büyük</a:t>
            </a:r>
            <a:r>
              <a:rPr sz="3200" b="1" dirty="0">
                <a:solidFill>
                  <a:srgbClr val="101B2D"/>
                </a:solidFill>
                <a:latin typeface="Aptos"/>
              </a:rPr>
              <a:t> </a:t>
            </a:r>
            <a:r>
              <a:rPr sz="3200" b="1" dirty="0" err="1">
                <a:solidFill>
                  <a:srgbClr val="101B2D"/>
                </a:solidFill>
                <a:latin typeface="Aptos"/>
              </a:rPr>
              <a:t>resmi</a:t>
            </a:r>
            <a:endParaRPr sz="3200" b="1" dirty="0">
              <a:solidFill>
                <a:srgbClr val="101B2D"/>
              </a:solidFill>
              <a:latin typeface="Aptos"/>
            </a:endParaRPr>
          </a:p>
        </p:txBody>
      </p:sp>
      <p:pic>
        <p:nvPicPr>
          <p:cNvPr id="5" name="Picture 4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548640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5074920" cy="434340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645920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01B2D"/>
                </a:solidFill>
                <a:latin typeface="Aptos"/>
              </a:rPr>
              <a:t>Bizim için akış: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7E57C2"/>
                </a:solidFill>
                <a:latin typeface="Aptos"/>
              </a:rPr>
              <a:t>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94560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7303A"/>
                </a:solidFill>
                <a:latin typeface="Aptos"/>
              </a:rPr>
              <a:t>nasıl hazırlanacağını tarif eder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7157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496ED"/>
                </a:solidFill>
                <a:latin typeface="Aptos"/>
              </a:rPr>
              <a:t>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715768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7303A"/>
                </a:solidFill>
                <a:latin typeface="Aptos"/>
              </a:rPr>
              <a:t>hazır çalışma kalıbı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236975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6A367"/>
                </a:solidFill>
                <a:latin typeface="Aptos"/>
              </a:rPr>
              <a:t>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36975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7303A"/>
                </a:solidFill>
                <a:latin typeface="Aptos"/>
              </a:rPr>
              <a:t>çalışan örnek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758183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5BCFFF"/>
                </a:solidFill>
                <a:latin typeface="Aptos"/>
              </a:rPr>
              <a:t>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758183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7303A"/>
                </a:solidFill>
                <a:latin typeface="Aptos"/>
              </a:rPr>
              <a:t>container’ları konuşturur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27939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F9140"/>
                </a:solidFill>
                <a:latin typeface="Aptos"/>
              </a:rPr>
              <a:t>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79392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7303A"/>
                </a:solidFill>
                <a:latin typeface="Aptos"/>
              </a:rPr>
              <a:t>veriyi kalıcılaştırır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8006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D24E4E"/>
                </a:solidFill>
                <a:latin typeface="Aptos"/>
              </a:rPr>
              <a:t>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00600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7303A"/>
                </a:solidFill>
                <a:latin typeface="Aptos"/>
              </a:rPr>
              <a:t>hepsini birlikte yönetir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897880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01B2D"/>
                </a:solidFill>
                <a:latin typeface="Aptos"/>
              </a:rPr>
              <a:t>Docker’ın gücü tek bir container’da değil; bu parçaların birlikte çalışmasında.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021180"/>
            <a:ext cx="11064240" cy="286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tr-TR" sz="3000" b="1" dirty="0">
              <a:solidFill>
                <a:srgbClr val="0B1F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000" b="1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2615" y="1675218"/>
            <a:ext cx="640080" cy="45720"/>
          </a:xfrm>
          <a:prstGeom prst="rect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anlatım videosu</a:t>
            </a:r>
            <a:endParaRPr lang="en-US" sz="145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8229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youtube.com/watch?v=DQdB7wFEygo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50" dirty="0" err="1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PagerTree</a:t>
            </a:r>
            <a:r>
              <a:rPr lang="en-US" sz="1450" dirty="0">
                <a:solidFill>
                  <a:srgbClr val="132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Docker Overview</a:t>
            </a:r>
            <a:endParaRPr lang="en-US" sz="1450" dirty="0"/>
          </a:p>
        </p:txBody>
      </p:sp>
      <p:sp>
        <p:nvSpPr>
          <p:cNvPr id="10" name="Text 8">
            <a:hlinkClick r:id="rId4"/>
          </p:cNvPr>
          <p:cNvSpPr/>
          <p:nvPr/>
        </p:nvSpPr>
        <p:spPr>
          <a:xfrm>
            <a:off x="82296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pagertree.com/learn/docker/overview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36BE8932-8F67-7D3C-EFCB-446C1E8A9036}"/>
              </a:ext>
            </a:extLst>
          </p:cNvPr>
          <p:cNvSpPr txBox="1"/>
          <p:nvPr/>
        </p:nvSpPr>
        <p:spPr>
          <a:xfrm>
            <a:off x="746449" y="4665306"/>
            <a:ext cx="10608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Aptos"/>
                <a:hlinkClick r:id="rId5"/>
              </a:rPr>
              <a:t>https://faun.pub/the-ultimate-guide-to-docker-from-novice-to-expert-cf961536c147</a:t>
            </a:r>
            <a:endParaRPr lang="tr-TR" dirty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Aptos"/>
                <a:hlinkClick r:id="rId6"/>
              </a:rPr>
              <a:t>https://www.geeksforgeeks.org/devops/docker-tutorial/</a:t>
            </a:r>
            <a:endParaRPr lang="tr-TR" dirty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Aptos"/>
                <a:hlinkClick r:id="rId7"/>
              </a:rPr>
              <a:t>https://bytebytego.com/guides/top-8-must-know-docker-concepts/</a:t>
            </a:r>
            <a:endParaRPr lang="tr-TR" dirty="0">
              <a:latin typeface="Aptos"/>
            </a:endParaRPr>
          </a:p>
          <a:p>
            <a:endParaRPr lang="tr-T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822960" y="5120640"/>
            <a:ext cx="1280160" cy="1280160"/>
          </a:xfrm>
          <a:prstGeom prst="ellipse">
            <a:avLst/>
          </a:prstGeom>
          <a:solidFill>
            <a:srgbClr val="4FD1C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Teşekkürler!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1379</Words>
  <Application>Microsoft Office PowerPoint</Application>
  <PresentationFormat>Geniş ekran</PresentationFormat>
  <Paragraphs>246</Paragraphs>
  <Slides>26</Slides>
  <Notes>19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CANSU GUZEL</cp:lastModifiedBy>
  <cp:revision>16</cp:revision>
  <dcterms:created xsi:type="dcterms:W3CDTF">2026-09-16T19:42:02Z</dcterms:created>
  <dcterms:modified xsi:type="dcterms:W3CDTF">2026-09-17T11:58:05Z</dcterms:modified>
</cp:coreProperties>
</file>