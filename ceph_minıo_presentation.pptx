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7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9" r:id="rId22"/>
    <p:sldId id="275" r:id="rId23"/>
    <p:sldId id="276" r:id="rId24"/>
    <p:sldId id="278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1896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31EB8-73F9-7BE7-C632-09B377E1F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EC2DF2-89DD-6161-D368-C5D784B247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14E46D-C991-A275-C143-8E7C820E71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429D3-5E37-2AFB-3AAA-E8B8188196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876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cs.ceph.com/en/reef/architecture/-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cs.ceph.com/en/reef/architecture/-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cs.ceph.com/en/reef/architecture/-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2651760" y="1097280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480560" y="1097280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1097280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38160" y="1097280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51760" y="12984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874520"/>
            <a:ext cx="2756916" cy="640080"/>
          </a:xfrm>
          <a:prstGeom prst="line">
            <a:avLst/>
          </a:prstGeom>
          <a:noFill/>
          <a:ln w="15875">
            <a:solidFill>
              <a:srgbClr val="6C7B9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4480560" y="12984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66360" y="1874520"/>
            <a:ext cx="928116" cy="640080"/>
          </a:xfrm>
          <a:prstGeom prst="line">
            <a:avLst/>
          </a:prstGeom>
          <a:noFill/>
          <a:ln w="15875">
            <a:solidFill>
              <a:srgbClr val="6C7B9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309360" y="12984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 flipH="1">
            <a:off x="6094476" y="1874520"/>
            <a:ext cx="900684" cy="640080"/>
          </a:xfrm>
          <a:prstGeom prst="line">
            <a:avLst/>
          </a:prstGeom>
          <a:noFill/>
          <a:ln w="15875">
            <a:solidFill>
              <a:srgbClr val="6C7B9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8138160" y="12984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flipH="1">
            <a:off x="6094476" y="1874520"/>
            <a:ext cx="2729484" cy="640080"/>
          </a:xfrm>
          <a:prstGeom prst="line">
            <a:avLst/>
          </a:prstGeom>
          <a:noFill/>
          <a:ln w="15875">
            <a:solidFill>
              <a:srgbClr val="6C7B9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5180076" y="251460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1C2C48"/>
          </a:solidFill>
          <a:ln w="15875">
            <a:solidFill>
              <a:srgbClr val="38BDF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0" y="370332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B9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Ceph</a:t>
            </a: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&amp; </a:t>
            </a:r>
            <a:r>
              <a:rPr lang="en-US" sz="48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MinIO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0" y="4526280"/>
            <a:ext cx="12191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Dağıtık Depolama Sistemleri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Storage, Object Storage ve Veri Dayanıklılığı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0" y="62636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r>
              <a:rPr lang="tr-TR" sz="1050" b="1" kern="0" spc="3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r>
              <a:rPr lang="en-US" sz="1050" b="1" kern="0" spc="3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STAJ SUNUMU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Distributed Storage?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Server (Single Point of Failure)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0" y="2441448"/>
            <a:ext cx="0" cy="320040"/>
          </a:xfrm>
          <a:prstGeom prst="line">
            <a:avLst/>
          </a:prstGeom>
          <a:noFill/>
          <a:ln w="25400">
            <a:solidFill>
              <a:srgbClr val="6C7B9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0" y="3401568"/>
            <a:ext cx="0" cy="320040"/>
          </a:xfrm>
          <a:prstGeom prst="line">
            <a:avLst/>
          </a:prstGeom>
          <a:noFill/>
          <a:ln w="25400">
            <a:solidFill>
              <a:srgbClr val="6C7B9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868680" y="379476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49040" y="14813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Ortaya Çıkan Sorunlar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0" y="182880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arızası (disk failure)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Kapasite sınırı (capacity limit)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hata noktası (single point of failure)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Artan veri miktarı (growing data volume)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2651760"/>
            <a:ext cx="914400" cy="0"/>
          </a:xfrm>
          <a:prstGeom prst="line">
            <a:avLst/>
          </a:prstGeom>
          <a:noFill/>
          <a:ln w="3175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7818120" y="22402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0" y="3337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Birden Fazla Node Birlikte Çalışıyor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0" y="37033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16223A"/>
          </a:solidFill>
          <a:ln w="15875">
            <a:solidFill>
              <a:srgbClr val="38BDF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1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26280" y="4270248"/>
            <a:ext cx="2034540" cy="804672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5623560" y="37033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16223A"/>
          </a:solidFill>
          <a:ln w="15875">
            <a:solidFill>
              <a:srgbClr val="38BDF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0" y="4270248"/>
            <a:ext cx="160020" cy="804672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7498080" y="37033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16223A"/>
          </a:solidFill>
          <a:ln w="15875">
            <a:solidFill>
              <a:srgbClr val="38BDF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3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 flipH="1">
            <a:off x="6560820" y="4270248"/>
            <a:ext cx="1714500" cy="804672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9372600" y="37033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16223A"/>
          </a:solidFill>
          <a:ln w="15875">
            <a:solidFill>
              <a:srgbClr val="38BDF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4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 flipH="1">
            <a:off x="6560820" y="4270248"/>
            <a:ext cx="3589020" cy="804672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5554980" y="507492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1C2C48"/>
          </a:solidFill>
          <a:ln w="15875">
            <a:solidFill>
              <a:srgbClr val="38BDF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&amp; MinIO  ·  DAĞITIK DEPOLAMA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2009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TEMEL KAVRAMLAR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Temel Kavramlar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6223A"/>
          </a:solidFill>
          <a:ln w="15875">
            <a:solidFill>
              <a:srgbClr val="38BDF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06040" y="2057400"/>
            <a:ext cx="502920" cy="0"/>
          </a:xfrm>
          <a:prstGeom prst="line">
            <a:avLst/>
          </a:prstGeom>
          <a:noFill/>
          <a:ln w="25400">
            <a:solidFill>
              <a:srgbClr val="6C7B9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108960" y="17373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6223A"/>
          </a:solidFill>
          <a:ln w="15875">
            <a:solidFill>
              <a:srgbClr val="38BDF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2057400"/>
            <a:ext cx="502920" cy="0"/>
          </a:xfrm>
          <a:prstGeom prst="line">
            <a:avLst/>
          </a:prstGeom>
          <a:noFill/>
          <a:ln w="25400">
            <a:solidFill>
              <a:srgbClr val="6C7B9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5440680" y="17373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6223A"/>
          </a:solidFill>
          <a:ln w="15875">
            <a:solidFill>
              <a:srgbClr val="38BDF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269480" y="2057400"/>
            <a:ext cx="777240" cy="0"/>
          </a:xfrm>
          <a:prstGeom prst="line">
            <a:avLst/>
          </a:prstGeom>
          <a:noFill/>
          <a:ln w="25400">
            <a:solidFill>
              <a:srgbClr val="6C7B9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8046720" y="173736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1C2C48"/>
          </a:solidFill>
          <a:ln w="15875">
            <a:solidFill>
              <a:srgbClr val="38BDF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3017520"/>
            <a:ext cx="2423160" cy="1600200"/>
          </a:xfrm>
          <a:prstGeom prst="roundRect">
            <a:avLst>
              <a:gd name="adj" fmla="val 4571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" y="3154680"/>
            <a:ext cx="209397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7512" y="3547872"/>
            <a:ext cx="209397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cluster içinde çalışan tekil sunucu / makine.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46120" y="3017520"/>
            <a:ext cx="2423160" cy="1600200"/>
          </a:xfrm>
          <a:prstGeom prst="roundRect">
            <a:avLst>
              <a:gd name="adj" fmla="val 4571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10712" y="3154680"/>
            <a:ext cx="209397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10712" y="3547872"/>
            <a:ext cx="209397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Birlikte çalışan node'ların oluşturduğu bütün.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89320" y="3017520"/>
            <a:ext cx="2423160" cy="1600200"/>
          </a:xfrm>
          <a:prstGeom prst="roundRect">
            <a:avLst>
              <a:gd name="adj" fmla="val 4571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53912" y="3154680"/>
            <a:ext cx="209397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53912" y="3547872"/>
            <a:ext cx="209397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Verinin fiziksel olarak saklandığı donanım.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732520" y="3017520"/>
            <a:ext cx="2423160" cy="1600200"/>
          </a:xfrm>
          <a:prstGeom prst="roundRect">
            <a:avLst>
              <a:gd name="adj" fmla="val 4571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97112" y="3154680"/>
            <a:ext cx="209397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Storage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897112" y="3547872"/>
            <a:ext cx="209397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Verinin birden fazla node/disk'e dağıtılarak saklanması.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&amp; MinIO  ·  DAĞITIK DEPOLAMA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2009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OBJECT STORAGE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Storage Nedir?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907128" y="169164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1C2C48"/>
          </a:solidFill>
          <a:ln w="15875">
            <a:solidFill>
              <a:srgbClr val="38BDF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 flipH="1">
            <a:off x="3215488" y="2377440"/>
            <a:ext cx="2880360" cy="502920"/>
          </a:xfrm>
          <a:prstGeom prst="line">
            <a:avLst/>
          </a:prstGeom>
          <a:noFill/>
          <a:ln w="22225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1912468" y="28803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Dosyanın </a:t>
            </a:r>
            <a:r>
              <a:rPr lang="en-US" sz="1200" dirty="0" err="1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kendisi</a:t>
            </a: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tr-TR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BLOB-İkili Veri</a:t>
            </a: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95848" y="2377440"/>
            <a:ext cx="0" cy="502920"/>
          </a:xfrm>
          <a:prstGeom prst="line">
            <a:avLst/>
          </a:prstGeom>
          <a:noFill/>
          <a:ln w="22225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4792828" y="28803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Dosyayı tanımlayan bilgiler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95848" y="2377440"/>
            <a:ext cx="2880360" cy="502920"/>
          </a:xfrm>
          <a:prstGeom prst="line">
            <a:avLst/>
          </a:prstGeom>
          <a:noFill/>
          <a:ln w="22225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7673188" y="28803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Object'e ait benzersiz kimlik / yol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48056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16223A"/>
          </a:solidFill>
          <a:ln w="15875">
            <a:solidFill>
              <a:srgbClr val="38BDF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617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photo.jpg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4983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Content-Type: image/jpeg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52852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2 MB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55869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images/photo.jpg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4480560"/>
            <a:ext cx="6309360" cy="1417320"/>
          </a:xfrm>
          <a:prstGeom prst="roundRect">
            <a:avLst>
              <a:gd name="adj" fmla="val 5161"/>
            </a:avLst>
          </a:prstGeom>
          <a:solidFill>
            <a:srgbClr val="1C2C48"/>
          </a:solidFill>
          <a:ln w="15875">
            <a:solidFill>
              <a:srgbClr val="38BDF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"Object = yalnızca dosyanın kendisi değildir;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i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ve onu tanımlayan bilgiler birlikte düşünülür."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&amp; MinIO  ·  DAĞITIK DEPOLAMA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2009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OBJECT STORAGE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Bucket Nedir?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566160" y="1737360"/>
            <a:ext cx="5029200" cy="3017520"/>
          </a:xfrm>
          <a:prstGeom prst="roundRect">
            <a:avLst>
              <a:gd name="adj" fmla="val 3636"/>
            </a:avLst>
          </a:prstGeom>
          <a:solidFill>
            <a:srgbClr val="16223A"/>
          </a:solidFill>
          <a:ln w="25400">
            <a:solidFill>
              <a:srgbClr val="38BDF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79476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Bucket: images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977640" y="2423160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1C2C48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cat.jpg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77640" y="3108960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1C2C48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dog.jpg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77640" y="3794760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1C2C48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telescope.jpg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77440" y="5029200"/>
            <a:ext cx="7406640" cy="1005840"/>
          </a:xfrm>
          <a:prstGeom prst="roundRect">
            <a:avLst>
              <a:gd name="adj" fmla="val 7273"/>
            </a:avLst>
          </a:prstGeom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Bucket, klasik bir klasör (folder) ile aynı şey değildir —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object'leri mantıksal olarak organize eden bir kapsayıcıdır.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&amp; MinIO  ·  DAĞITIK DEPOLAMA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82009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S3 &amp; API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S3 Nedir?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632808" y="1691640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16223A"/>
          </a:solidFill>
          <a:ln w="15875">
            <a:solidFill>
              <a:srgbClr val="38BDF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5848" y="2350008"/>
            <a:ext cx="0" cy="384048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632808" y="2734056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1C2C48"/>
          </a:solidFill>
          <a:ln w="15875">
            <a:solidFill>
              <a:srgbClr val="38BDF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API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5848" y="3392424"/>
            <a:ext cx="0" cy="384048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4632808" y="3776472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16223A"/>
          </a:solidFill>
          <a:ln w="15875">
            <a:solidFill>
              <a:srgbClr val="38BDF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95848" y="4434840"/>
            <a:ext cx="0" cy="384048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632808" y="4818888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1C2C48"/>
          </a:solidFill>
          <a:ln w="15875">
            <a:solidFill>
              <a:srgbClr val="38BDF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553212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= Amazon Simple Storage Service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585216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için kullanılan yaygın bir API / model.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&amp; MinIO  ·  DAĞITIK DEPOLAMA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2009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S3 &amp; API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 Neden Önemli?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724248" y="169164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1C2C48"/>
          </a:solidFill>
          <a:ln w="15875">
            <a:solidFill>
              <a:srgbClr val="38BDF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API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 flipH="1">
            <a:off x="2712568" y="2350008"/>
            <a:ext cx="3383280" cy="713232"/>
          </a:xfrm>
          <a:prstGeom prst="line">
            <a:avLst/>
          </a:prstGeom>
          <a:noFill/>
          <a:ln w="22225">
            <a:solidFill>
              <a:srgbClr val="B0B8C9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1340968" y="306324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16223A"/>
          </a:solidFill>
          <a:ln w="15875">
            <a:solidFill>
              <a:srgbClr val="B0B8C9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5848" y="2350008"/>
            <a:ext cx="0" cy="713232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4724248" y="306324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16223A"/>
          </a:solidFill>
          <a:ln w="15875">
            <a:solidFill>
              <a:srgbClr val="22D3E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5848" y="2350008"/>
            <a:ext cx="3383280" cy="713232"/>
          </a:xfrm>
          <a:prstGeom prst="line">
            <a:avLst/>
          </a:prstGeom>
          <a:noFill/>
          <a:ln w="22225">
            <a:solidFill>
              <a:srgbClr val="FB923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8107528" y="306324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16223A"/>
          </a:solidFill>
          <a:ln w="15875">
            <a:solidFill>
              <a:srgbClr val="FB923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RGW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4434840"/>
            <a:ext cx="9235440" cy="1371600"/>
          </a:xfrm>
          <a:prstGeom prst="roundRect">
            <a:avLst>
              <a:gd name="adj" fmla="val 5333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Uygulama, S3 API ile object storage'a erişebilir.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Arka planda AWS S3, MinIO veya Ceph RGW gibi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sistemler çalışabilir — uygulama bunu bilmek zorunda değildir.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&amp; MinIO  ·  DAĞITIK DEPOLAMA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2009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S3 &amp; API</a:t>
            </a:r>
            <a:endParaRPr lang="en-US" sz="1200" dirty="0"/>
          </a:p>
        </p:txBody>
      </p:sp>
      <p:sp>
        <p:nvSpPr>
          <p:cNvPr id="4" name="Text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 Nesne Şifreleme: Client-Side vs Server-Side</a:t>
            </a:r>
            <a:endParaRPr lang="en-US" sz="2800" dirty="0"/>
          </a:p>
        </p:txBody>
      </p:sp>
      <p:sp>
        <p:nvSpPr>
          <p:cNvPr id="5" name="Text"/>
          <p:cNvSpPr/>
          <p:nvPr/>
        </p:nvSpPr>
        <p:spPr>
          <a:xfrm>
            <a:off x="502920" y="1417320"/>
            <a:ext cx="8000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ENCRYPTION</a:t>
            </a:r>
            <a:endParaRPr lang="en-US" sz="1150" dirty="0"/>
          </a:p>
        </p:txBody>
      </p:sp>
      <p:sp>
        <p:nvSpPr>
          <p:cNvPr id="6" name="Shape"/>
          <p:cNvSpPr/>
          <p:nvPr/>
        </p:nvSpPr>
        <p:spPr>
          <a:xfrm>
            <a:off x="502920" y="1783080"/>
            <a:ext cx="3291840" cy="850000"/>
          </a:xfrm>
          <a:prstGeom prst="roundRect">
            <a:avLst>
              <a:gd name="adj" fmla="val 9000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+</a:t>
            </a:r>
            <a:endParaRPr lang="en-US" sz="12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Data Key</a:t>
            </a:r>
            <a:endParaRPr lang="en-US" sz="1050" dirty="0"/>
          </a:p>
        </p:txBody>
      </p:sp>
      <p:sp>
        <p:nvSpPr>
          <p:cNvPr id="7" name="Line"/>
          <p:cNvSpPr/>
          <p:nvPr/>
        </p:nvSpPr>
        <p:spPr>
          <a:xfrm>
            <a:off x="3794760" y="2208079"/>
            <a:ext cx="655167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"/>
          <p:cNvSpPr/>
          <p:nvPr/>
        </p:nvSpPr>
        <p:spPr>
          <a:xfrm>
            <a:off x="3622343" y="1858080"/>
            <a:ext cx="1000000" cy="2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950" dirty="0"/>
          </a:p>
        </p:txBody>
      </p:sp>
      <p:sp>
        <p:nvSpPr>
          <p:cNvPr id="9" name="Shape"/>
          <p:cNvSpPr/>
          <p:nvPr/>
        </p:nvSpPr>
        <p:spPr>
          <a:xfrm>
            <a:off x="4449927" y="1783080"/>
            <a:ext cx="3291840" cy="850000"/>
          </a:xfrm>
          <a:prstGeom prst="roundRect">
            <a:avLst>
              <a:gd name="adj" fmla="val 9000"/>
            </a:avLst>
          </a:prstGeom>
          <a:solidFill>
            <a:srgbClr val="1C2C48"/>
          </a:solidFill>
          <a:ln w="15875">
            <a:solidFill>
              <a:srgbClr val="38BDF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Object</a:t>
            </a:r>
            <a:endParaRPr lang="en-US" sz="1300" dirty="0"/>
          </a:p>
        </p:txBody>
      </p:sp>
      <p:sp>
        <p:nvSpPr>
          <p:cNvPr id="10" name="Line"/>
          <p:cNvSpPr/>
          <p:nvPr/>
        </p:nvSpPr>
        <p:spPr>
          <a:xfrm>
            <a:off x="7741767" y="2208079"/>
            <a:ext cx="655167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"/>
          <p:cNvSpPr/>
          <p:nvPr/>
        </p:nvSpPr>
        <p:spPr>
          <a:xfrm>
            <a:off x="7569350" y="1858080"/>
            <a:ext cx="1000000" cy="2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HTTP/S</a:t>
            </a:r>
            <a:endParaRPr lang="en-US" sz="950" dirty="0"/>
          </a:p>
        </p:txBody>
      </p:sp>
      <p:sp>
        <p:nvSpPr>
          <p:cNvPr id="12" name="Shape"/>
          <p:cNvSpPr/>
          <p:nvPr/>
        </p:nvSpPr>
        <p:spPr>
          <a:xfrm>
            <a:off x="8396934" y="1783080"/>
            <a:ext cx="3291840" cy="850000"/>
          </a:xfrm>
          <a:prstGeom prst="roundRect">
            <a:avLst>
              <a:gd name="adj" fmla="val 9000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(Bucket)</a:t>
            </a:r>
            <a:endParaRPr lang="en-US" sz="1050" dirty="0"/>
          </a:p>
        </p:txBody>
      </p:sp>
      <p:sp>
        <p:nvSpPr>
          <p:cNvPr id="13" name="Text"/>
          <p:cNvSpPr/>
          <p:nvPr/>
        </p:nvSpPr>
        <p:spPr>
          <a:xfrm>
            <a:off x="502920" y="2724520"/>
            <a:ext cx="11185855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1" i="1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Nesne S3'e ulaşmadan önce istemci tarafında şifrelenir — S3 yalnızca şifreli veriyi görür.</a:t>
            </a:r>
            <a:endParaRPr lang="en-US" sz="1050" dirty="0"/>
          </a:p>
        </p:txBody>
      </p:sp>
      <p:sp>
        <p:nvSpPr>
          <p:cNvPr id="14" name="Text"/>
          <p:cNvSpPr/>
          <p:nvPr/>
        </p:nvSpPr>
        <p:spPr>
          <a:xfrm>
            <a:off x="502920" y="3657600"/>
            <a:ext cx="8000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ENCRYPTION (SSE-KMS)</a:t>
            </a:r>
            <a:endParaRPr lang="en-US" sz="1150" dirty="0"/>
          </a:p>
        </p:txBody>
      </p:sp>
      <p:sp>
        <p:nvSpPr>
          <p:cNvPr id="15" name="Shape"/>
          <p:cNvSpPr/>
          <p:nvPr/>
        </p:nvSpPr>
        <p:spPr>
          <a:xfrm>
            <a:off x="502920" y="4023360"/>
            <a:ext cx="3291840" cy="850000"/>
          </a:xfrm>
          <a:prstGeom prst="roundRect">
            <a:avLst>
              <a:gd name="adj" fmla="val 9000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300" dirty="0"/>
          </a:p>
        </p:txBody>
      </p:sp>
      <p:sp>
        <p:nvSpPr>
          <p:cNvPr id="16" name="Line"/>
          <p:cNvSpPr/>
          <p:nvPr/>
        </p:nvSpPr>
        <p:spPr>
          <a:xfrm>
            <a:off x="3794760" y="4448359"/>
            <a:ext cx="655167" cy="0"/>
          </a:xfrm>
          <a:prstGeom prst="line">
            <a:avLst/>
          </a:prstGeom>
          <a:noFill/>
          <a:ln w="19050">
            <a:solidFill>
              <a:srgbClr val="FB923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"/>
          <p:cNvSpPr/>
          <p:nvPr/>
        </p:nvSpPr>
        <p:spPr>
          <a:xfrm>
            <a:off x="3422343" y="4098360"/>
            <a:ext cx="1400000" cy="2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HTTP/S</a:t>
            </a:r>
            <a:endParaRPr lang="en-US" sz="950" dirty="0"/>
          </a:p>
        </p:txBody>
      </p:sp>
      <p:sp>
        <p:nvSpPr>
          <p:cNvPr id="18" name="Shape"/>
          <p:cNvSpPr/>
          <p:nvPr/>
        </p:nvSpPr>
        <p:spPr>
          <a:xfrm>
            <a:off x="4449927" y="4023360"/>
            <a:ext cx="3291840" cy="850000"/>
          </a:xfrm>
          <a:prstGeom prst="roundRect">
            <a:avLst>
              <a:gd name="adj" fmla="val 9000"/>
            </a:avLst>
          </a:prstGeom>
          <a:solidFill>
            <a:srgbClr val="1C2C48"/>
          </a:solidFill>
          <a:ln w="15875">
            <a:solidFill>
              <a:srgbClr val="FB923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+</a:t>
            </a:r>
            <a:endParaRPr lang="en-US" sz="12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Customer Master Key</a:t>
            </a:r>
            <a:endParaRPr lang="en-US" sz="1000" dirty="0"/>
          </a:p>
        </p:txBody>
      </p:sp>
      <p:sp>
        <p:nvSpPr>
          <p:cNvPr id="19" name="Line"/>
          <p:cNvSpPr/>
          <p:nvPr/>
        </p:nvSpPr>
        <p:spPr>
          <a:xfrm>
            <a:off x="7741767" y="4448359"/>
            <a:ext cx="655167" cy="0"/>
          </a:xfrm>
          <a:prstGeom prst="line">
            <a:avLst/>
          </a:prstGeom>
          <a:noFill/>
          <a:ln w="19050">
            <a:solidFill>
              <a:srgbClr val="FB923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"/>
          <p:cNvSpPr/>
          <p:nvPr/>
        </p:nvSpPr>
        <p:spPr>
          <a:xfrm>
            <a:off x="7569350" y="4098360"/>
            <a:ext cx="1000000" cy="2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950" dirty="0"/>
          </a:p>
        </p:txBody>
      </p:sp>
      <p:sp>
        <p:nvSpPr>
          <p:cNvPr id="21" name="Shape"/>
          <p:cNvSpPr/>
          <p:nvPr/>
        </p:nvSpPr>
        <p:spPr>
          <a:xfrm>
            <a:off x="8396934" y="4023360"/>
            <a:ext cx="3291840" cy="850000"/>
          </a:xfrm>
          <a:prstGeom prst="roundRect">
            <a:avLst>
              <a:gd name="adj" fmla="val 9000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(Bucket)</a:t>
            </a:r>
            <a:endParaRPr lang="en-US" sz="1050" dirty="0"/>
          </a:p>
        </p:txBody>
      </p:sp>
      <p:sp>
        <p:nvSpPr>
          <p:cNvPr id="22" name="Text"/>
          <p:cNvSpPr/>
          <p:nvPr/>
        </p:nvSpPr>
        <p:spPr>
          <a:xfrm>
            <a:off x="502920" y="4964800"/>
            <a:ext cx="11185855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1" i="1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İstek header'ında şifreleme talimatı taşınır; nesne düz metin olarak S3'e ulaşır, şifreleme S3 tarafında KMS'nin yönettiği anahtarla yapılır.</a:t>
            </a:r>
            <a:endParaRPr lang="en-US" sz="1050" dirty="0"/>
          </a:p>
        </p:txBody>
      </p:sp>
      <p:sp>
        <p:nvSpPr>
          <p:cNvPr id="23" name="Shape"/>
          <p:cNvSpPr/>
          <p:nvPr/>
        </p:nvSpPr>
        <p:spPr>
          <a:xfrm>
            <a:off x="1463040" y="5943600"/>
            <a:ext cx="9235440" cy="640080"/>
          </a:xfrm>
          <a:prstGeom prst="roundRect">
            <a:avLst>
              <a:gd name="adj" fmla="val 8000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RGW ve MinIO, S3 uyumluluğu kapsamında her iki şifreleme modelini de destekler (SSE-C / SSE-KMS).</a:t>
            </a:r>
            <a:endParaRPr lang="en-US" sz="1200" dirty="0"/>
          </a:p>
        </p:txBody>
      </p:sp>
      <p:sp>
        <p:nvSpPr>
          <p:cNvPr id="24" name="Text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&amp; MinIO  ·  DAĞITIK DEPOLAMA</a:t>
            </a:r>
            <a:endParaRPr lang="en-US" sz="900" dirty="0"/>
          </a:p>
        </p:txBody>
      </p:sp>
      <p:sp>
        <p:nvSpPr>
          <p:cNvPr id="25" name="Text"/>
          <p:cNvSpPr/>
          <p:nvPr/>
        </p:nvSpPr>
        <p:spPr>
          <a:xfrm>
            <a:off x="1082009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MINIO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MinIO Nedir?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5669280" cy="438912"/>
          </a:xfrm>
          <a:prstGeom prst="roundRect">
            <a:avLst>
              <a:gd name="adj" fmla="val 104167"/>
            </a:avLst>
          </a:prstGeom>
          <a:ln w="19050">
            <a:solidFill>
              <a:srgbClr val="22D3EE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uyumlu, dağıtık Object Storage sistemi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769968" y="2011680"/>
            <a:ext cx="2651760" cy="512064"/>
          </a:xfrm>
          <a:prstGeom prst="roundRect">
            <a:avLst>
              <a:gd name="adj" fmla="val 14286"/>
            </a:avLst>
          </a:prstGeom>
          <a:solidFill>
            <a:srgbClr val="16223A"/>
          </a:solidFill>
          <a:ln w="15875">
            <a:solidFill>
              <a:srgbClr val="22D3E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5848" y="2523744"/>
            <a:ext cx="0" cy="237744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769968" y="2761488"/>
            <a:ext cx="2651760" cy="512064"/>
          </a:xfrm>
          <a:prstGeom prst="roundRect">
            <a:avLst>
              <a:gd name="adj" fmla="val 14286"/>
            </a:avLst>
          </a:prstGeom>
          <a:solidFill>
            <a:srgbClr val="16223A"/>
          </a:solidFill>
          <a:ln w="15875">
            <a:solidFill>
              <a:srgbClr val="22D3E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API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5848" y="3273552"/>
            <a:ext cx="0" cy="237744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769968" y="3511296"/>
            <a:ext cx="2651760" cy="512064"/>
          </a:xfrm>
          <a:prstGeom prst="roundRect">
            <a:avLst>
              <a:gd name="adj" fmla="val 14286"/>
            </a:avLst>
          </a:prstGeom>
          <a:solidFill>
            <a:srgbClr val="1C2C48"/>
          </a:solidFill>
          <a:ln w="15875">
            <a:solidFill>
              <a:srgbClr val="22D3E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95848" y="4023360"/>
            <a:ext cx="0" cy="237744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2141068" y="4261104"/>
            <a:ext cx="1737360" cy="512064"/>
          </a:xfrm>
          <a:prstGeom prst="roundRect">
            <a:avLst>
              <a:gd name="adj" fmla="val 14286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1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98468" y="4261104"/>
            <a:ext cx="1737360" cy="512064"/>
          </a:xfrm>
          <a:prstGeom prst="roundRect">
            <a:avLst>
              <a:gd name="adj" fmla="val 14286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55868" y="4261104"/>
            <a:ext cx="1737360" cy="512064"/>
          </a:xfrm>
          <a:prstGeom prst="roundRect">
            <a:avLst>
              <a:gd name="adj" fmla="val 14286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3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13268" y="4261104"/>
            <a:ext cx="1737360" cy="512064"/>
          </a:xfrm>
          <a:prstGeom prst="roundRect">
            <a:avLst>
              <a:gd name="adj" fmla="val 14286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4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009748" y="4773168"/>
            <a:ext cx="0" cy="237744"/>
          </a:xfrm>
          <a:prstGeom prst="line">
            <a:avLst/>
          </a:prstGeom>
          <a:noFill/>
          <a:ln w="25400">
            <a:solidFill>
              <a:srgbClr val="6C7B9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5067148" y="4773168"/>
            <a:ext cx="0" cy="237744"/>
          </a:xfrm>
          <a:prstGeom prst="line">
            <a:avLst/>
          </a:prstGeom>
          <a:noFill/>
          <a:ln w="25400">
            <a:solidFill>
              <a:srgbClr val="6C7B9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7124548" y="4773168"/>
            <a:ext cx="0" cy="237744"/>
          </a:xfrm>
          <a:prstGeom prst="line">
            <a:avLst/>
          </a:prstGeom>
          <a:noFill/>
          <a:ln w="25400">
            <a:solidFill>
              <a:srgbClr val="6C7B9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9181948" y="4773168"/>
            <a:ext cx="0" cy="237744"/>
          </a:xfrm>
          <a:prstGeom prst="line">
            <a:avLst/>
          </a:prstGeom>
          <a:noFill/>
          <a:ln w="25400">
            <a:solidFill>
              <a:srgbClr val="6C7B9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3718408" y="5010912"/>
            <a:ext cx="4754880" cy="457200"/>
          </a:xfrm>
          <a:prstGeom prst="roundRect">
            <a:avLst>
              <a:gd name="adj" fmla="val 16000"/>
            </a:avLst>
          </a:prstGeom>
          <a:solidFill>
            <a:srgbClr val="1C2C48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5724144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MinIO'nun ana odağı: Object Storage.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&amp; MinIO  ·  DAĞITIK DEPOLAMA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2009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MINIO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MinIO Nasıl Kullanılır?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41368" y="1508760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16223A"/>
          </a:solidFill>
          <a:ln w="15875">
            <a:solidFill>
              <a:srgbClr val="22D3E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48" y="2039112"/>
            <a:ext cx="0" cy="237744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541368" y="2276856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16223A"/>
          </a:solidFill>
          <a:ln w="15875">
            <a:solidFill>
              <a:srgbClr val="22D3E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PUT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5848" y="2807208"/>
            <a:ext cx="0" cy="237744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4541368" y="3044952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16223A"/>
          </a:solidFill>
          <a:ln w="15875">
            <a:solidFill>
              <a:srgbClr val="22D3E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5848" y="3575304"/>
            <a:ext cx="0" cy="237744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541368" y="3813048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16223A"/>
          </a:solidFill>
          <a:ln w="15875">
            <a:solidFill>
              <a:srgbClr val="22D3E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95848" y="4343400"/>
            <a:ext cx="0" cy="237744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541368" y="4581144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1C2C48"/>
          </a:solidFill>
          <a:ln w="15875">
            <a:solidFill>
              <a:srgbClr val="22D3E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Storage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54864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uygulama MinIO'ya object yüklerken S3 API üzerinden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bucket içine, benzersiz bir key ile yazma işlemi yapar.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&amp; MinIO  ·  DAĞITIK DEPOLAMA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82009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CEPH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Ceph Nedir?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91640" y="150876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1C2C48"/>
          </a:solidFill>
          <a:ln w="15875">
            <a:solidFill>
              <a:srgbClr val="FB923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88920" y="2057400"/>
            <a:ext cx="0" cy="310896"/>
          </a:xfrm>
          <a:prstGeom prst="line">
            <a:avLst/>
          </a:prstGeom>
          <a:noFill/>
          <a:ln w="25400">
            <a:solidFill>
              <a:srgbClr val="FB923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1691640" y="2368296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16223A"/>
          </a:solidFill>
          <a:ln w="15875">
            <a:solidFill>
              <a:srgbClr val="FB923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RADOS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 flipH="1">
            <a:off x="1170432" y="2871216"/>
            <a:ext cx="1618488" cy="402336"/>
          </a:xfrm>
          <a:prstGeom prst="line">
            <a:avLst/>
          </a:prstGeom>
          <a:noFill/>
          <a:ln w="16510">
            <a:solidFill>
              <a:srgbClr val="FB923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461772" y="3273552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RGW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61772" y="37947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 flipH="1">
            <a:off x="2788920" y="2871216"/>
            <a:ext cx="0" cy="402336"/>
          </a:xfrm>
          <a:prstGeom prst="line">
            <a:avLst/>
          </a:prstGeom>
          <a:noFill/>
          <a:ln w="16510">
            <a:solidFill>
              <a:srgbClr val="FB923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2080260" y="3273552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080260" y="37947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88920" y="2871216"/>
            <a:ext cx="1618488" cy="402336"/>
          </a:xfrm>
          <a:prstGeom prst="line">
            <a:avLst/>
          </a:prstGeom>
          <a:noFill/>
          <a:ln w="16510">
            <a:solidFill>
              <a:srgbClr val="FB923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3698748" y="3273552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CephFS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98748" y="37947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4343400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Ceph: Birden fazla makinenin disklerini bir distributed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cluster olarak birleştiren; Object, Block ve File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sağlayabilen açık kaynak (open-source) platform.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1463040"/>
            <a:ext cx="5340096" cy="3995014"/>
          </a:xfrm>
          <a:prstGeom prst="roundRect">
            <a:avLst>
              <a:gd name="adj" fmla="val 1602"/>
            </a:avLst>
          </a:prstGeom>
          <a:solidFill>
            <a:srgbClr val="F4F6F9"/>
          </a:solidFill>
          <a:ln w="1905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9" name="Image 0" descr="/home/claude/assets/image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1572768"/>
            <a:ext cx="5120640" cy="346466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989320" y="5128870"/>
            <a:ext cx="534009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</a:t>
            </a: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https://docs.ceph.com/en/reef/architecture/</a:t>
            </a:r>
            <a:r>
              <a:rPr lang="tr-TR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 -</a:t>
            </a:r>
            <a:r>
              <a:rPr lang="tr-TR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resmi mimari </a:t>
            </a:r>
            <a:r>
              <a:rPr lang="en-US" sz="900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şeması</a:t>
            </a: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&amp; MinIO  ·  DAĞITIK DEPOLAMA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82009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662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CEPH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RADOS Nedir?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1600200"/>
            <a:ext cx="2834640" cy="530352"/>
          </a:xfrm>
          <a:prstGeom prst="roundRect">
            <a:avLst>
              <a:gd name="adj" fmla="val 13793"/>
            </a:avLst>
          </a:prstGeom>
          <a:solidFill>
            <a:srgbClr val="16223A"/>
          </a:solidFill>
          <a:ln w="15875">
            <a:solidFill>
              <a:srgbClr val="FB923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2130552"/>
            <a:ext cx="0" cy="237744"/>
          </a:xfrm>
          <a:prstGeom prst="line">
            <a:avLst/>
          </a:prstGeom>
          <a:noFill/>
          <a:ln w="25400">
            <a:solidFill>
              <a:srgbClr val="FB923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1828800" y="2368296"/>
            <a:ext cx="2834640" cy="530352"/>
          </a:xfrm>
          <a:prstGeom prst="roundRect">
            <a:avLst>
              <a:gd name="adj" fmla="val 13793"/>
            </a:avLst>
          </a:prstGeom>
          <a:solidFill>
            <a:srgbClr val="16223A"/>
          </a:solidFill>
          <a:ln w="15875">
            <a:solidFill>
              <a:srgbClr val="FB923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RGW / RBD / CephFS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2898648"/>
            <a:ext cx="0" cy="237744"/>
          </a:xfrm>
          <a:prstGeom prst="line">
            <a:avLst/>
          </a:prstGeom>
          <a:noFill/>
          <a:ln w="25400">
            <a:solidFill>
              <a:srgbClr val="FB923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828800" y="3136392"/>
            <a:ext cx="2834640" cy="530352"/>
          </a:xfrm>
          <a:prstGeom prst="roundRect">
            <a:avLst>
              <a:gd name="adj" fmla="val 13793"/>
            </a:avLst>
          </a:prstGeom>
          <a:solidFill>
            <a:srgbClr val="1C2C48"/>
          </a:solidFill>
          <a:ln w="15875">
            <a:solidFill>
              <a:srgbClr val="FB923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3666744"/>
            <a:ext cx="0" cy="237744"/>
          </a:xfrm>
          <a:prstGeom prst="line">
            <a:avLst/>
          </a:prstGeom>
          <a:noFill/>
          <a:ln w="25400">
            <a:solidFill>
              <a:srgbClr val="FB923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1828800" y="3904488"/>
            <a:ext cx="2834640" cy="530352"/>
          </a:xfrm>
          <a:prstGeom prst="roundRect">
            <a:avLst>
              <a:gd name="adj" fmla="val 13793"/>
            </a:avLst>
          </a:prstGeom>
          <a:solidFill>
            <a:srgbClr val="16223A"/>
          </a:solidFill>
          <a:ln w="15875">
            <a:solidFill>
              <a:srgbClr val="FB923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4434840"/>
            <a:ext cx="0" cy="237744"/>
          </a:xfrm>
          <a:prstGeom prst="line">
            <a:avLst/>
          </a:prstGeom>
          <a:noFill/>
          <a:ln w="25400">
            <a:solidFill>
              <a:srgbClr val="FB923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1828800" y="4672584"/>
            <a:ext cx="2834640" cy="530352"/>
          </a:xfrm>
          <a:prstGeom prst="roundRect">
            <a:avLst>
              <a:gd name="adj" fmla="val 13793"/>
            </a:avLst>
          </a:prstGeom>
          <a:solidFill>
            <a:srgbClr val="16223A"/>
          </a:solidFill>
          <a:ln w="15875">
            <a:solidFill>
              <a:srgbClr val="FB923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8600" y="55778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RADOS, verinin cluster genelinde dağıtık olarak saklanmasının</a:t>
            </a:r>
            <a:endParaRPr lang="en-US" sz="1250" dirty="0"/>
          </a:p>
          <a:p>
            <a:pPr marL="0" indent="0" algn="l">
              <a:buNone/>
            </a:pPr>
            <a:r>
              <a:rPr lang="en-US" sz="1250" i="1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temelini oluşturan katmandır (Reliable Autonomic</a:t>
            </a:r>
            <a:endParaRPr lang="en-US" sz="1250" dirty="0"/>
          </a:p>
          <a:p>
            <a:pPr marL="0" indent="0" algn="l">
              <a:buNone/>
            </a:pPr>
            <a:r>
              <a:rPr lang="en-US" sz="1250" i="1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Object Store).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20840" y="1508760"/>
            <a:ext cx="4654296" cy="4187952"/>
          </a:xfrm>
          <a:prstGeom prst="roundRect">
            <a:avLst>
              <a:gd name="adj" fmla="val 1528"/>
            </a:avLst>
          </a:prstGeom>
          <a:solidFill>
            <a:srgbClr val="F4F6F9"/>
          </a:solidFill>
          <a:ln w="1905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6" name="Image 0" descr="/home/claude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568" y="1618488"/>
            <a:ext cx="4434840" cy="36576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720840" y="5367528"/>
            <a:ext cx="465429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</a:t>
            </a: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https://docs.ceph.com/en/reef/architecture/</a:t>
            </a:r>
            <a:r>
              <a:rPr lang="tr-TR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 -</a:t>
            </a:r>
            <a:r>
              <a:rPr lang="tr-TR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RADOSGW / LIBRADOS katmanı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&amp; MinIO  ·  DAĞITIK DEPOLAMA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82009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CEPH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Ceph'in Temel Bileşenleri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148840" y="1417320"/>
            <a:ext cx="2194560" cy="530352"/>
          </a:xfrm>
          <a:prstGeom prst="roundRect">
            <a:avLst>
              <a:gd name="adj" fmla="val 13793"/>
            </a:avLst>
          </a:prstGeom>
          <a:solidFill>
            <a:srgbClr val="1C2C48"/>
          </a:solidFill>
          <a:ln w="15875">
            <a:solidFill>
              <a:srgbClr val="FB923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 flipH="1">
            <a:off x="1417320" y="1947672"/>
            <a:ext cx="1828800" cy="384048"/>
          </a:xfrm>
          <a:prstGeom prst="line">
            <a:avLst/>
          </a:prstGeom>
          <a:noFill/>
          <a:ln w="16510">
            <a:solidFill>
              <a:srgbClr val="FB923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17220" y="2331720"/>
            <a:ext cx="1600200" cy="475488"/>
          </a:xfrm>
          <a:prstGeom prst="roundRect">
            <a:avLst>
              <a:gd name="adj" fmla="val 15385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7220" y="2834640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state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17220" y="3090672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Cluster'ın genel durumunu (map) takip eder.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947672"/>
            <a:ext cx="0" cy="384048"/>
          </a:xfrm>
          <a:prstGeom prst="line">
            <a:avLst/>
          </a:prstGeom>
          <a:noFill/>
          <a:ln w="16510">
            <a:solidFill>
              <a:srgbClr val="FB923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2446020" y="2331720"/>
            <a:ext cx="1600200" cy="475488"/>
          </a:xfrm>
          <a:prstGeom prst="roundRect">
            <a:avLst>
              <a:gd name="adj" fmla="val 15385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46020" y="2834640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446020" y="3090672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Verinin fiziksel olarak okuma/yazmasını yapar.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1947672"/>
            <a:ext cx="1828800" cy="384048"/>
          </a:xfrm>
          <a:prstGeom prst="line">
            <a:avLst/>
          </a:prstGeom>
          <a:noFill/>
          <a:ln w="16510">
            <a:solidFill>
              <a:srgbClr val="FB923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4274820" y="2331720"/>
            <a:ext cx="1600200" cy="475488"/>
          </a:xfrm>
          <a:prstGeom prst="roundRect">
            <a:avLst>
              <a:gd name="adj" fmla="val 15385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74820" y="2834640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CephFS metadata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274820" y="3090672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CephFS için dosya metadata'sını yönetir.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4069080"/>
            <a:ext cx="5760720" cy="777240"/>
          </a:xfrm>
          <a:prstGeom prst="roundRect">
            <a:avLst>
              <a:gd name="adj" fmla="val 9412"/>
            </a:avLst>
          </a:prstGeom>
          <a:solidFill>
            <a:srgbClr val="16223A"/>
          </a:solidFill>
          <a:ln w="15875">
            <a:solidFill>
              <a:srgbClr val="FB923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RGW  →  Object / S3 access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55080" y="1417320"/>
            <a:ext cx="4745736" cy="4434840"/>
          </a:xfrm>
          <a:prstGeom prst="roundRect">
            <a:avLst>
              <a:gd name="adj" fmla="val 1443"/>
            </a:avLst>
          </a:prstGeom>
          <a:solidFill>
            <a:srgbClr val="F4F6F9"/>
          </a:solidFill>
          <a:ln w="1905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0" name="Image 0" descr="/home/claude/assets/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1527048"/>
            <a:ext cx="4526280" cy="390448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355080" y="5522976"/>
            <a:ext cx="47457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OSD ve Monitor rolleri — https://docs.ceph.com/en/reef/architecture/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&amp; MinIO  ·  DAĞITIK DEPOLAMA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82009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VERI YERLEŞIMI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Ceph'te Veri Nereye Gidiyor?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760220" y="1508760"/>
            <a:ext cx="2514600" cy="493776"/>
          </a:xfrm>
          <a:prstGeom prst="roundRect">
            <a:avLst>
              <a:gd name="adj" fmla="val 14815"/>
            </a:avLst>
          </a:prstGeom>
          <a:solidFill>
            <a:srgbClr val="16223A"/>
          </a:solidFill>
          <a:ln w="15875">
            <a:solidFill>
              <a:srgbClr val="FB923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017520" y="2002536"/>
            <a:ext cx="0" cy="219456"/>
          </a:xfrm>
          <a:prstGeom prst="line">
            <a:avLst/>
          </a:prstGeom>
          <a:noFill/>
          <a:ln w="25400">
            <a:solidFill>
              <a:srgbClr val="FB923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1760220" y="2221992"/>
            <a:ext cx="2514600" cy="493776"/>
          </a:xfrm>
          <a:prstGeom prst="roundRect">
            <a:avLst>
              <a:gd name="adj" fmla="val 14815"/>
            </a:avLst>
          </a:prstGeom>
          <a:solidFill>
            <a:srgbClr val="16223A"/>
          </a:solidFill>
          <a:ln w="15875">
            <a:solidFill>
              <a:srgbClr val="FB923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017520" y="2715768"/>
            <a:ext cx="0" cy="219456"/>
          </a:xfrm>
          <a:prstGeom prst="line">
            <a:avLst/>
          </a:prstGeom>
          <a:noFill/>
          <a:ln w="25400">
            <a:solidFill>
              <a:srgbClr val="FB923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760220" y="2935224"/>
            <a:ext cx="2514600" cy="493776"/>
          </a:xfrm>
          <a:prstGeom prst="roundRect">
            <a:avLst>
              <a:gd name="adj" fmla="val 14815"/>
            </a:avLst>
          </a:prstGeom>
          <a:solidFill>
            <a:srgbClr val="16223A"/>
          </a:solidFill>
          <a:ln w="15875">
            <a:solidFill>
              <a:srgbClr val="FB923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Group (PG)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017520" y="3429000"/>
            <a:ext cx="0" cy="219456"/>
          </a:xfrm>
          <a:prstGeom prst="line">
            <a:avLst/>
          </a:prstGeom>
          <a:noFill/>
          <a:ln w="25400">
            <a:solidFill>
              <a:srgbClr val="FB923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1760220" y="3648456"/>
            <a:ext cx="2514600" cy="493776"/>
          </a:xfrm>
          <a:prstGeom prst="roundRect">
            <a:avLst>
              <a:gd name="adj" fmla="val 14815"/>
            </a:avLst>
          </a:prstGeom>
          <a:solidFill>
            <a:srgbClr val="16223A"/>
          </a:solidFill>
          <a:ln w="15875">
            <a:solidFill>
              <a:srgbClr val="FB923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CRUSH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017520" y="4142232"/>
            <a:ext cx="0" cy="219456"/>
          </a:xfrm>
          <a:prstGeom prst="line">
            <a:avLst/>
          </a:prstGeom>
          <a:noFill/>
          <a:ln w="25400">
            <a:solidFill>
              <a:srgbClr val="FB923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 flipH="1">
            <a:off x="1188720" y="4361688"/>
            <a:ext cx="1828800" cy="411480"/>
          </a:xfrm>
          <a:prstGeom prst="line">
            <a:avLst/>
          </a:prstGeom>
          <a:noFill/>
          <a:ln w="16510">
            <a:solidFill>
              <a:srgbClr val="FB923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388620" y="4773168"/>
            <a:ext cx="1600200" cy="475488"/>
          </a:xfrm>
          <a:prstGeom prst="roundRect">
            <a:avLst>
              <a:gd name="adj" fmla="val 15385"/>
            </a:avLst>
          </a:prstGeom>
          <a:solidFill>
            <a:srgbClr val="1C2C48"/>
          </a:solidFill>
          <a:ln w="15875">
            <a:solidFill>
              <a:srgbClr val="FB923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OSD 1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017520" y="4361688"/>
            <a:ext cx="0" cy="411480"/>
          </a:xfrm>
          <a:prstGeom prst="line">
            <a:avLst/>
          </a:prstGeom>
          <a:noFill/>
          <a:ln w="16510">
            <a:solidFill>
              <a:srgbClr val="FB923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2217420" y="4773168"/>
            <a:ext cx="1600200" cy="475488"/>
          </a:xfrm>
          <a:prstGeom prst="roundRect">
            <a:avLst>
              <a:gd name="adj" fmla="val 15385"/>
            </a:avLst>
          </a:prstGeom>
          <a:solidFill>
            <a:srgbClr val="1C2C48"/>
          </a:solidFill>
          <a:ln w="15875">
            <a:solidFill>
              <a:srgbClr val="FB923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OSD 5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017520" y="4361688"/>
            <a:ext cx="1828800" cy="411480"/>
          </a:xfrm>
          <a:prstGeom prst="line">
            <a:avLst/>
          </a:prstGeom>
          <a:noFill/>
          <a:ln w="16510">
            <a:solidFill>
              <a:srgbClr val="FB923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046220" y="4773168"/>
            <a:ext cx="1600200" cy="475488"/>
          </a:xfrm>
          <a:prstGeom prst="roundRect">
            <a:avLst>
              <a:gd name="adj" fmla="val 15385"/>
            </a:avLst>
          </a:prstGeom>
          <a:solidFill>
            <a:srgbClr val="1C2C48"/>
          </a:solidFill>
          <a:ln w="15875">
            <a:solidFill>
              <a:srgbClr val="FB923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OSD 9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28600" y="5413248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CRUSH, merkezi bir lookup tablosuna sürekli sormak yerine,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verinin nerede olduğunu matematiksel olarak hesaplar.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03720" y="1508760"/>
            <a:ext cx="4471416" cy="3152851"/>
          </a:xfrm>
          <a:prstGeom prst="roundRect">
            <a:avLst>
              <a:gd name="adj" fmla="val 2030"/>
            </a:avLst>
          </a:prstGeom>
          <a:solidFill>
            <a:srgbClr val="F4F6F9"/>
          </a:solidFill>
          <a:ln w="1905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pic>
        <p:nvPicPr>
          <p:cNvPr id="21" name="Image 0" descr="/home/claude/assets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448" y="1618488"/>
            <a:ext cx="4251960" cy="2622499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903720" y="4332427"/>
            <a:ext cx="44714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Ceph resmi </a:t>
            </a:r>
            <a:r>
              <a:rPr lang="en-US" sz="900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süreci</a:t>
            </a: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https://docs.ceph.com/en/reef/architecture/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&amp; MinIO  ·  DAĞITIK DEPOLAMA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82009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VERI YERLEŞIMI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CRUSH Algorithm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7863840" cy="411480"/>
          </a:xfrm>
          <a:prstGeom prst="roundRect">
            <a:avLst>
              <a:gd name="adj" fmla="val 111111"/>
            </a:avLst>
          </a:prstGeom>
          <a:ln w="19050">
            <a:solidFill>
              <a:srgbClr val="FB923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CRUSH = Controlled Replication Under Scalable Hashing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286000" y="214884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16223A"/>
          </a:solidFill>
          <a:ln w="15875">
            <a:solidFill>
              <a:srgbClr val="FB923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91840" y="2651760"/>
            <a:ext cx="0" cy="274320"/>
          </a:xfrm>
          <a:prstGeom prst="line">
            <a:avLst/>
          </a:prstGeom>
          <a:noFill/>
          <a:ln w="25400">
            <a:solidFill>
              <a:srgbClr val="FB923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2286000" y="292608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1C2C48"/>
          </a:solidFill>
          <a:ln w="15875">
            <a:solidFill>
              <a:srgbClr val="FB923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CRUSH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 flipH="1">
            <a:off x="2103120" y="3429000"/>
            <a:ext cx="1188720" cy="457200"/>
          </a:xfrm>
          <a:prstGeom prst="line">
            <a:avLst/>
          </a:prstGeom>
          <a:noFill/>
          <a:ln w="16510">
            <a:solidFill>
              <a:srgbClr val="FB923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1554480" y="38862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OSD1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1840" y="3429000"/>
            <a:ext cx="548640" cy="457200"/>
          </a:xfrm>
          <a:prstGeom prst="line">
            <a:avLst/>
          </a:prstGeom>
          <a:noFill/>
          <a:ln w="16510">
            <a:solidFill>
              <a:srgbClr val="FB923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3291840" y="38862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OSD5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91840" y="3429000"/>
            <a:ext cx="2286000" cy="457200"/>
          </a:xfrm>
          <a:prstGeom prst="line">
            <a:avLst/>
          </a:prstGeom>
          <a:noFill/>
          <a:ln w="16510">
            <a:solidFill>
              <a:srgbClr val="FB923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029200" y="38862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OSD9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949440" y="17830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Domain (Rack Farkındalığı)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949440" y="2148840"/>
            <a:ext cx="2103120" cy="1280160"/>
          </a:xfrm>
          <a:prstGeom prst="roundRect">
            <a:avLst>
              <a:gd name="adj" fmla="val 5714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86600" y="22677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 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0" y="265176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1C2C48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OSD1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0" y="265176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1C2C48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OSD2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26880" y="2148840"/>
            <a:ext cx="2103120" cy="1280160"/>
          </a:xfrm>
          <a:prstGeom prst="roundRect">
            <a:avLst>
              <a:gd name="adj" fmla="val 5714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464040" y="22677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 B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509760" y="265176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1C2C48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OSD3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424160" y="265176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1C2C48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OSD4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9440" y="356616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Replica'lar farklı host/rack gibi failure domain'lere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dağıtılarak tek bir arızanın tüm kopyaları etkilemesi önlenir.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5029200"/>
            <a:ext cx="11185855" cy="777240"/>
          </a:xfrm>
          <a:prstGeom prst="roundRect">
            <a:avLst>
              <a:gd name="adj" fmla="val 9412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dirty="0" err="1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önemli</a:t>
            </a: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veri konumu merkezi bir tablo yerine hesaplanır.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&amp; MinIO  ·  DAĞITIK DEPOLAMA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2009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331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VERI DAYANIKLILIĞI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90008" y="155448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1C2C48"/>
          </a:solidFill>
          <a:ln w="15875">
            <a:solidFill>
              <a:srgbClr val="38BDF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 flipH="1">
            <a:off x="3261208" y="2057400"/>
            <a:ext cx="2834640" cy="45720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2118208" y="251460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1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61208" y="2971800"/>
            <a:ext cx="0" cy="256032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2118208" y="3227832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1C2C48"/>
          </a:solidFill>
          <a:ln w="15875">
            <a:solidFill>
              <a:srgbClr val="34D399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1  ✓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095848" y="2057400"/>
            <a:ext cx="0" cy="45720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952848" y="251460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2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95848" y="2971800"/>
            <a:ext cx="0" cy="256032"/>
          </a:xfrm>
          <a:prstGeom prst="line">
            <a:avLst/>
          </a:prstGeom>
          <a:noFill/>
          <a:ln w="25400">
            <a:solidFill>
              <a:srgbClr val="F87171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952848" y="3227832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2A1418"/>
          </a:solidFill>
          <a:ln w="15875">
            <a:solidFill>
              <a:srgbClr val="F87171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  ✗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95848" y="2057400"/>
            <a:ext cx="2834640" cy="45720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7787488" y="251460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3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30488" y="2971800"/>
            <a:ext cx="0" cy="256032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7787488" y="3227832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1C2C48"/>
          </a:solidFill>
          <a:ln w="15875">
            <a:solidFill>
              <a:srgbClr val="34D399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3  ✓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02920" y="39776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 çökerse: Node 1 ve Node 3 sayesinde veri korunur.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44805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16223A"/>
          </a:solidFill>
          <a:ln w="15875">
            <a:solidFill>
              <a:srgbClr val="34D399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Avantaj</a:t>
            </a:r>
            <a:endParaRPr lang="en-US" sz="1350" dirty="0"/>
          </a:p>
          <a:p>
            <a:pPr marL="0" indent="0" algn="ctr">
              <a:buNone/>
            </a:pP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Kolay ve dayanıklı.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160520" y="44805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16223A"/>
          </a:solidFill>
          <a:ln w="15875">
            <a:solidFill>
              <a:srgbClr val="F87171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Dezavantaj</a:t>
            </a:r>
            <a:endParaRPr lang="en-US" sz="1350" dirty="0"/>
          </a:p>
          <a:p>
            <a:pPr marL="0" indent="0" algn="ctr">
              <a:buNone/>
            </a:pP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fazla raw storage kullanır.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260082" y="3977640"/>
            <a:ext cx="3789678" cy="2526487"/>
          </a:xfrm>
          <a:prstGeom prst="roundRect">
            <a:avLst>
              <a:gd name="adj" fmla="val 3271"/>
            </a:avLst>
          </a:prstGeom>
          <a:solidFill>
            <a:srgbClr val="F4F6F9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2" name="Image 0" descr="/home/claude/assets/image3.png"/>
          <p:cNvPicPr>
            <a:picLocks noChangeAspect="1"/>
          </p:cNvPicPr>
          <p:nvPr/>
        </p:nvPicPr>
        <p:blipFill>
          <a:blip r:embed="rId3"/>
          <a:srcRect l="8358" r="2610" b="5249"/>
          <a:stretch>
            <a:fillRect/>
          </a:stretch>
        </p:blipFill>
        <p:spPr>
          <a:xfrm>
            <a:off x="8260082" y="3986784"/>
            <a:ext cx="3789678" cy="2133295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500188" y="6217920"/>
            <a:ext cx="3325747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https://docs.ceph.com/en/reef/architecture/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&amp; MinIO  ·  DAĞITIK DEPOLAMA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82009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VERI DAYANIKLILIĞI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Erasure Coding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815688" y="155448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1C2C48"/>
          </a:solidFill>
          <a:ln w="15875">
            <a:solidFill>
              <a:srgbClr val="38BDF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Data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48" y="2057400"/>
            <a:ext cx="0" cy="27432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1889608" y="233172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06828" y="2834640"/>
            <a:ext cx="0" cy="411480"/>
          </a:xfrm>
          <a:prstGeom prst="line">
            <a:avLst/>
          </a:prstGeom>
          <a:noFill/>
          <a:ln w="12700">
            <a:solidFill>
              <a:srgbClr val="6C7B9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325216" y="233172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942436" y="2834640"/>
            <a:ext cx="0" cy="411480"/>
          </a:xfrm>
          <a:prstGeom prst="line">
            <a:avLst/>
          </a:prstGeom>
          <a:noFill/>
          <a:ln w="12700">
            <a:solidFill>
              <a:srgbClr val="6C7B9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760824" y="233172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78044" y="2834640"/>
            <a:ext cx="0" cy="411480"/>
          </a:xfrm>
          <a:prstGeom prst="line">
            <a:avLst/>
          </a:prstGeom>
          <a:noFill/>
          <a:ln w="12700">
            <a:solidFill>
              <a:srgbClr val="6C7B9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6196432" y="233172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13652" y="2834640"/>
            <a:ext cx="0" cy="411480"/>
          </a:xfrm>
          <a:prstGeom prst="line">
            <a:avLst/>
          </a:prstGeom>
          <a:noFill/>
          <a:ln w="12700">
            <a:solidFill>
              <a:srgbClr val="6C7B9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7632040" y="233172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2A1E10"/>
          </a:solidFill>
          <a:ln w="15875">
            <a:solidFill>
              <a:srgbClr val="FB923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49260" y="2834640"/>
            <a:ext cx="0" cy="411480"/>
          </a:xfrm>
          <a:prstGeom prst="line">
            <a:avLst/>
          </a:prstGeom>
          <a:noFill/>
          <a:ln w="12700">
            <a:solidFill>
              <a:srgbClr val="FB923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9067648" y="233172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2A1E10"/>
          </a:solidFill>
          <a:ln w="15875">
            <a:solidFill>
              <a:srgbClr val="FB923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684868" y="2834640"/>
            <a:ext cx="0" cy="411480"/>
          </a:xfrm>
          <a:prstGeom prst="line">
            <a:avLst/>
          </a:prstGeom>
          <a:noFill/>
          <a:ln w="12700">
            <a:solidFill>
              <a:srgbClr val="FB923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502920" y="329184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OSD'lere dağıtılır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0888" y="393192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16223A"/>
          </a:solidFill>
          <a:ln w="15875">
            <a:solidFill>
              <a:srgbClr val="38BDF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</a:t>
            </a:r>
            <a:endParaRPr lang="en-US" sz="1500" dirty="0"/>
          </a:p>
          <a:p>
            <a:pPr marL="0" indent="0" algn="ctr">
              <a:buNone/>
            </a:pP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"Kopyalar"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70168" y="393192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16223A"/>
          </a:solidFill>
          <a:ln w="15875">
            <a:solidFill>
              <a:srgbClr val="FB923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Erasure Coding</a:t>
            </a:r>
            <a:endParaRPr lang="en-US" sz="1500" dirty="0"/>
          </a:p>
          <a:p>
            <a:pPr marL="0" indent="0" algn="ctr">
              <a:buNone/>
            </a:pP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"Data parçaları + parity"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" y="544068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parçalara ayrılır ve parity bilgileri oluşturulur —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i="1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bazı parçalar kaybolsa bile veri yeniden oluşturulabilir.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&amp; MinIO  ·  DAĞITIK DEPOLAMA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2009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VERI DAYANIKLILIĞI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Failure / Self-Healing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26668" y="1508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26668" y="1828800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16223A"/>
          </a:solidFill>
          <a:ln w="15875">
            <a:solidFill>
              <a:srgbClr val="34D399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1  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41268" y="1828800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16223A"/>
          </a:solidFill>
          <a:ln w="15875">
            <a:solidFill>
              <a:srgbClr val="34D399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  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55868" y="1828800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16223A"/>
          </a:solidFill>
          <a:ln w="15875">
            <a:solidFill>
              <a:srgbClr val="34D399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3  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770468" y="1828800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16223A"/>
          </a:solidFill>
          <a:ln w="15875">
            <a:solidFill>
              <a:srgbClr val="34D399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4  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26668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 FAILURE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26668" y="3017520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16223A"/>
          </a:solidFill>
          <a:ln w="15875">
            <a:solidFill>
              <a:srgbClr val="34D399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1  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1268" y="3017520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2A1418"/>
          </a:solidFill>
          <a:ln w="15875">
            <a:solidFill>
              <a:srgbClr val="F87171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  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55868" y="3017520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16223A"/>
          </a:solidFill>
          <a:ln w="15875">
            <a:solidFill>
              <a:srgbClr val="34D399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3  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770468" y="3017520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16223A"/>
          </a:solidFill>
          <a:ln w="15875">
            <a:solidFill>
              <a:srgbClr val="34D399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4  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95848" y="3749040"/>
            <a:ext cx="0" cy="457200"/>
          </a:xfrm>
          <a:prstGeom prst="line">
            <a:avLst/>
          </a:prstGeom>
          <a:noFill/>
          <a:ln w="3175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4175608" y="4251960"/>
            <a:ext cx="3840480" cy="548640"/>
          </a:xfrm>
          <a:prstGeom prst="roundRect">
            <a:avLst>
              <a:gd name="adj" fmla="val 13333"/>
            </a:avLst>
          </a:prstGeom>
          <a:solidFill>
            <a:srgbClr val="1C2C48"/>
          </a:solidFill>
          <a:ln w="15875">
            <a:solidFill>
              <a:srgbClr val="38BDF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/ Rebalancing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95848" y="4800600"/>
            <a:ext cx="0" cy="32004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3718408" y="5166360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6223A"/>
          </a:solidFill>
          <a:ln w="15875">
            <a:solidFill>
              <a:srgbClr val="34D399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tekrar dayanıklı hale gelir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&amp; MinIO  ·  DAĞITIK DEPOLAMA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2009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KARŞILAŞTIRMA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MinIO vs Ceph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011680" y="1600200"/>
            <a:ext cx="2743200" cy="566928"/>
          </a:xfrm>
          <a:prstGeom prst="rect">
            <a:avLst/>
          </a:prstGeom>
          <a:ln w="15875">
            <a:solidFill>
              <a:srgbClr val="0B1220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60020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1C2C48"/>
          </a:solidFill>
          <a:ln w="15875">
            <a:solidFill>
              <a:srgbClr val="22D3E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0" y="160020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1C2C48"/>
          </a:solidFill>
          <a:ln w="15875">
            <a:solidFill>
              <a:srgbClr val="FB923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2167128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odak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167128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141F35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46720" y="2167128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141F35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+ Block + File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011680" y="2734056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2734056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141F35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046720" y="2734056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141F35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(RGW)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011680" y="3300984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3300984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141F35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046720" y="3300984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141F35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011680" y="3867912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Erasure Coding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3867912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141F35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046720" y="3867912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141F35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011680" y="4434840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443484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141F35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odaklı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046720" y="443484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141F35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geniş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645920" y="5276088"/>
            <a:ext cx="8869680" cy="822960"/>
          </a:xfrm>
          <a:prstGeom prst="roundRect">
            <a:avLst>
              <a:gd name="adj" fmla="val 8889"/>
            </a:avLst>
          </a:prstGeom>
          <a:solidFill>
            <a:srgbClr val="16223A"/>
          </a:solidFill>
          <a:ln w="15875">
            <a:solidFill>
              <a:srgbClr val="38BDF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"Hangisi daha iyi?"  yerine  →  "Hangi problem için hangisi uygun?"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&amp; MinIO  ·  DAĞITIK DEPOLAMA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2009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CEPHFS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CephFS ve Dynamic Subtree Partitioning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CephFS istemcisi metadata ve data'ya ayrı ayrı erişir: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248656" cy="4553712"/>
          </a:xfrm>
          <a:prstGeom prst="roundRect">
            <a:avLst>
              <a:gd name="adj" fmla="val 1406"/>
            </a:avLst>
          </a:prstGeom>
          <a:solidFill>
            <a:srgbClr val="F4F6F9"/>
          </a:solidFill>
          <a:ln w="1905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8" name="Image 0" descr="/home/claude/assets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938528"/>
            <a:ext cx="5029200" cy="4023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053328"/>
            <a:ext cx="52486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CephFS istemci erişimi — metadata (MDS) + data (OSD)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0" y="146304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Subtree Partitioning, CephFS metadata yükünü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MDS'lere dağıtmaya yardımcı olur — tek bir MDS tüm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dizin ağacının yükünü tek başına taşımaz.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903720" y="2514600"/>
            <a:ext cx="4197096" cy="3877056"/>
          </a:xfrm>
          <a:prstGeom prst="roundRect">
            <a:avLst>
              <a:gd name="adj" fmla="val 1651"/>
            </a:avLst>
          </a:prstGeom>
          <a:solidFill>
            <a:srgbClr val="F4F6F9"/>
          </a:solidFill>
          <a:ln w="1905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2" name="Image 1" descr="/home/claude/assets/image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2624328"/>
            <a:ext cx="3977640" cy="33467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03720" y="6062472"/>
            <a:ext cx="419709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Dynamic Subtree Partitioning — https://docs.ceph.com/en/reef/architecture/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&amp; MinIO  ·  DAĞITIK DEPOLAMA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82009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23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449C3-EB7D-D09D-F9FC-5213C0A44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6243059-FDED-531C-A2A7-4649B141ED7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FDDEBE2-BBD0-B5EF-A7CD-9F53962978C1}"/>
              </a:ext>
            </a:extLst>
          </p:cNvPr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Ceph Nedir?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476F69D-CAFC-8658-7DA9-7F6F3FBE2939}"/>
              </a:ext>
            </a:extLst>
          </p:cNvPr>
          <p:cNvSpPr/>
          <p:nvPr/>
        </p:nvSpPr>
        <p:spPr>
          <a:xfrm>
            <a:off x="1691640" y="150876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1C2C48"/>
          </a:solidFill>
          <a:ln w="15875">
            <a:solidFill>
              <a:srgbClr val="FB923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</a:t>
            </a:r>
            <a:endParaRPr lang="en-US" sz="1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1295E4F-A27A-0BA5-5AD6-3BBF983AC64B}"/>
              </a:ext>
            </a:extLst>
          </p:cNvPr>
          <p:cNvSpPr/>
          <p:nvPr/>
        </p:nvSpPr>
        <p:spPr>
          <a:xfrm>
            <a:off x="2788920" y="2057400"/>
            <a:ext cx="0" cy="310896"/>
          </a:xfrm>
          <a:prstGeom prst="line">
            <a:avLst/>
          </a:prstGeom>
          <a:noFill/>
          <a:ln w="25400">
            <a:solidFill>
              <a:srgbClr val="FB923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4430DE2-68E0-EDC5-69BD-3BA1EA0A2002}"/>
              </a:ext>
            </a:extLst>
          </p:cNvPr>
          <p:cNvSpPr/>
          <p:nvPr/>
        </p:nvSpPr>
        <p:spPr>
          <a:xfrm>
            <a:off x="1691640" y="2368296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16223A"/>
          </a:solidFill>
          <a:ln w="15875">
            <a:solidFill>
              <a:srgbClr val="FB923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RADOS</a:t>
            </a:r>
            <a:endParaRPr lang="en-US" sz="13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2254C4C-6BCE-4EFB-FEC5-F8ED9266DC93}"/>
              </a:ext>
            </a:extLst>
          </p:cNvPr>
          <p:cNvSpPr/>
          <p:nvPr/>
        </p:nvSpPr>
        <p:spPr>
          <a:xfrm flipH="1">
            <a:off x="1170432" y="2871216"/>
            <a:ext cx="1618488" cy="402336"/>
          </a:xfrm>
          <a:prstGeom prst="line">
            <a:avLst/>
          </a:prstGeom>
          <a:noFill/>
          <a:ln w="16510">
            <a:solidFill>
              <a:srgbClr val="FB923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4B2B81F-7025-3698-98E2-90DFD1C00A63}"/>
              </a:ext>
            </a:extLst>
          </p:cNvPr>
          <p:cNvSpPr/>
          <p:nvPr/>
        </p:nvSpPr>
        <p:spPr>
          <a:xfrm>
            <a:off x="461772" y="3273552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RGW</a:t>
            </a:r>
            <a:endParaRPr lang="en-US" sz="12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AD140D2-3511-36CD-F888-06880FE914CE}"/>
              </a:ext>
            </a:extLst>
          </p:cNvPr>
          <p:cNvSpPr/>
          <p:nvPr/>
        </p:nvSpPr>
        <p:spPr>
          <a:xfrm>
            <a:off x="461772" y="37947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FFC43D8-F1C1-5506-7954-5E5A351EFE85}"/>
              </a:ext>
            </a:extLst>
          </p:cNvPr>
          <p:cNvSpPr/>
          <p:nvPr/>
        </p:nvSpPr>
        <p:spPr>
          <a:xfrm flipH="1">
            <a:off x="2788920" y="2871216"/>
            <a:ext cx="0" cy="402336"/>
          </a:xfrm>
          <a:prstGeom prst="line">
            <a:avLst/>
          </a:prstGeom>
          <a:noFill/>
          <a:ln w="16510">
            <a:solidFill>
              <a:srgbClr val="FB923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DB6F1B0-B0C5-3811-5466-B960EA5BC601}"/>
              </a:ext>
            </a:extLst>
          </p:cNvPr>
          <p:cNvSpPr/>
          <p:nvPr/>
        </p:nvSpPr>
        <p:spPr>
          <a:xfrm>
            <a:off x="2080260" y="3273552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RBD</a:t>
            </a:r>
            <a:endParaRPr lang="en-US" sz="12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A8E4B9E-D104-51CB-4C65-D5D6ED006E48}"/>
              </a:ext>
            </a:extLst>
          </p:cNvPr>
          <p:cNvSpPr/>
          <p:nvPr/>
        </p:nvSpPr>
        <p:spPr>
          <a:xfrm>
            <a:off x="2080260" y="37947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3C08B67-4E08-4C6D-5202-0313EFF2A0F5}"/>
              </a:ext>
            </a:extLst>
          </p:cNvPr>
          <p:cNvSpPr/>
          <p:nvPr/>
        </p:nvSpPr>
        <p:spPr>
          <a:xfrm>
            <a:off x="2788920" y="2871216"/>
            <a:ext cx="1618488" cy="402336"/>
          </a:xfrm>
          <a:prstGeom prst="line">
            <a:avLst/>
          </a:prstGeom>
          <a:noFill/>
          <a:ln w="16510">
            <a:solidFill>
              <a:srgbClr val="FB923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6EFD1D2-16A9-6F63-E9F5-529976CC75F1}"/>
              </a:ext>
            </a:extLst>
          </p:cNvPr>
          <p:cNvSpPr/>
          <p:nvPr/>
        </p:nvSpPr>
        <p:spPr>
          <a:xfrm>
            <a:off x="3698748" y="3273552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CephFS</a:t>
            </a:r>
            <a:endParaRPr lang="en-US" sz="12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E23ECF7-1BC9-F10A-9F17-E58B3175D506}"/>
              </a:ext>
            </a:extLst>
          </p:cNvPr>
          <p:cNvSpPr/>
          <p:nvPr/>
        </p:nvSpPr>
        <p:spPr>
          <a:xfrm>
            <a:off x="3698748" y="37947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0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D15A2FE-44FC-9F9E-26C3-EF29C51CC062}"/>
              </a:ext>
            </a:extLst>
          </p:cNvPr>
          <p:cNvSpPr/>
          <p:nvPr/>
        </p:nvSpPr>
        <p:spPr>
          <a:xfrm>
            <a:off x="502920" y="4343400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Ceph: Birden fazla makinenin disklerini bir distributed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cluster olarak birleştiren; Object, Block ve File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sağlayabilen açık kaynak (open-source) platform.</a:t>
            </a:r>
            <a:endParaRPr lang="en-US" sz="13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518CD42-12CE-B4C1-419F-DECB6FDC830B}"/>
              </a:ext>
            </a:extLst>
          </p:cNvPr>
          <p:cNvSpPr/>
          <p:nvPr/>
        </p:nvSpPr>
        <p:spPr>
          <a:xfrm>
            <a:off x="5989320" y="1463040"/>
            <a:ext cx="5340096" cy="3995014"/>
          </a:xfrm>
          <a:prstGeom prst="roundRect">
            <a:avLst>
              <a:gd name="adj" fmla="val 1602"/>
            </a:avLst>
          </a:prstGeom>
          <a:solidFill>
            <a:srgbClr val="F4F6F9"/>
          </a:solidFill>
          <a:ln w="1905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9" name="Image 0" descr="/home/claude/assets/image5.jpeg">
            <a:extLst>
              <a:ext uri="{FF2B5EF4-FFF2-40B4-BE49-F238E27FC236}">
                <a16:creationId xmlns:a16="http://schemas.microsoft.com/office/drawing/2014/main" id="{C14BF919-D131-1D9C-BAE9-A5EB65E71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1572768"/>
            <a:ext cx="5120640" cy="3464662"/>
          </a:xfrm>
          <a:prstGeom prst="rect">
            <a:avLst/>
          </a:prstGeom>
        </p:spPr>
      </p:pic>
      <p:sp>
        <p:nvSpPr>
          <p:cNvPr id="20" name="Text 17">
            <a:extLst>
              <a:ext uri="{FF2B5EF4-FFF2-40B4-BE49-F238E27FC236}">
                <a16:creationId xmlns:a16="http://schemas.microsoft.com/office/drawing/2014/main" id="{75F65448-5049-E703-BB7E-E39A680F7C7D}"/>
              </a:ext>
            </a:extLst>
          </p:cNvPr>
          <p:cNvSpPr/>
          <p:nvPr/>
        </p:nvSpPr>
        <p:spPr>
          <a:xfrm>
            <a:off x="5989320" y="5128870"/>
            <a:ext cx="534009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</a:t>
            </a: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https://docs.ceph.com/en/reef/architecture/</a:t>
            </a:r>
            <a:r>
              <a:rPr lang="tr-TR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 -</a:t>
            </a:r>
            <a:r>
              <a:rPr lang="tr-TR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resmi mimari </a:t>
            </a:r>
            <a:r>
              <a:rPr lang="en-US" sz="900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şeması</a:t>
            </a: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C8BB3B90-7A3D-9763-5D9D-8B344ABD02E7}"/>
              </a:ext>
            </a:extLst>
          </p:cNvPr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&amp; MinIO  ·  DAĞITIK DEPOLAMA</a:t>
            </a:r>
            <a:endParaRPr lang="en-US" sz="9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42BB26B8-63B2-C5BC-19A1-4A31CEFA892C}"/>
              </a:ext>
            </a:extLst>
          </p:cNvPr>
          <p:cNvSpPr/>
          <p:nvPr/>
        </p:nvSpPr>
        <p:spPr>
          <a:xfrm>
            <a:off x="1082009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23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2296855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DAG BAĞLAMI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DAG'da Neden Önemli?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312768" y="150876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16223A"/>
          </a:solidFill>
          <a:ln w="15875">
            <a:solidFill>
              <a:srgbClr val="38BDF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Telescope / Sensors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48" y="2011680"/>
            <a:ext cx="0" cy="219456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312768" y="2231136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16223A"/>
          </a:solidFill>
          <a:ln w="15875">
            <a:solidFill>
              <a:srgbClr val="38BDF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Data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5848" y="2734056"/>
            <a:ext cx="0" cy="219456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4312768" y="2953512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16223A"/>
          </a:solidFill>
          <a:ln w="15875">
            <a:solidFill>
              <a:srgbClr val="38BDF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Cluster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5848" y="3456432"/>
            <a:ext cx="0" cy="219456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312768" y="3675888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16223A"/>
          </a:solidFill>
          <a:ln w="15875">
            <a:solidFill>
              <a:srgbClr val="38BDF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/ Ceph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95848" y="4178808"/>
            <a:ext cx="0" cy="219456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312768" y="4398264"/>
            <a:ext cx="3566160" cy="566928"/>
          </a:xfrm>
          <a:prstGeom prst="roundRect">
            <a:avLst>
              <a:gd name="adj" fmla="val 12903"/>
            </a:avLst>
          </a:prstGeom>
          <a:solidFill>
            <a:srgbClr val="1C2C48"/>
          </a:solidFill>
          <a:ln w="15875">
            <a:solidFill>
              <a:srgbClr val="38BDF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+ Scalable + Fault Tolerant Storage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51560" y="5367528"/>
            <a:ext cx="10088575" cy="777240"/>
          </a:xfrm>
          <a:prstGeom prst="roundRect">
            <a:avLst>
              <a:gd name="adj" fmla="val 9412"/>
            </a:avLst>
          </a:prstGeom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"Amaç yalnızca veriyi saklamak değil; büyük miktardaki veriyi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i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ölçeklenebilir, erişilebilir ve donanım arızalarına dayanıklı şekilde saklamaktır."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&amp; MinIO  ·  DAĞITIK DEPOLAMA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82009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— ÖZET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724248" y="123444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C2C48"/>
          </a:solidFill>
          <a:ln w="15875">
            <a:solidFill>
              <a:srgbClr val="38BDF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Storage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 flipH="1">
            <a:off x="3291840" y="1737360"/>
            <a:ext cx="2072488" cy="41148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2194560" y="214884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6223A"/>
          </a:solidFill>
          <a:ln w="15875">
            <a:solidFill>
              <a:srgbClr val="22D3E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2606040"/>
            <a:ext cx="0" cy="256032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2103120" y="2862072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27368" y="1737360"/>
            <a:ext cx="2042312" cy="411480"/>
          </a:xfrm>
          <a:prstGeom prst="line">
            <a:avLst/>
          </a:prstGeom>
          <a:noFill/>
          <a:ln w="19050">
            <a:solidFill>
              <a:srgbClr val="FB923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7772400" y="214884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6223A"/>
          </a:solidFill>
          <a:ln w="15875">
            <a:solidFill>
              <a:srgbClr val="FB923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69680" y="2606040"/>
            <a:ext cx="0" cy="256032"/>
          </a:xfrm>
          <a:prstGeom prst="line">
            <a:avLst/>
          </a:prstGeom>
          <a:noFill/>
          <a:ln w="25400">
            <a:solidFill>
              <a:srgbClr val="FB923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7680960" y="2862072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16223A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RADOS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 flipH="1">
            <a:off x="6766560" y="3319272"/>
            <a:ext cx="2103120" cy="338328"/>
          </a:xfrm>
          <a:prstGeom prst="line">
            <a:avLst/>
          </a:prstGeom>
          <a:noFill/>
          <a:ln w="12700">
            <a:solidFill>
              <a:srgbClr val="FB923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5852160" y="3657600"/>
            <a:ext cx="1828800" cy="438912"/>
          </a:xfrm>
          <a:prstGeom prst="roundRect">
            <a:avLst>
              <a:gd name="adj" fmla="val 16667"/>
            </a:avLst>
          </a:prstGeom>
          <a:solidFill>
            <a:srgbClr val="141F35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RGW → Object/S3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 flipH="1">
            <a:off x="8778240" y="3319272"/>
            <a:ext cx="91440" cy="338328"/>
          </a:xfrm>
          <a:prstGeom prst="line">
            <a:avLst/>
          </a:prstGeom>
          <a:noFill/>
          <a:ln w="12700">
            <a:solidFill>
              <a:srgbClr val="FB923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7863840" y="3657600"/>
            <a:ext cx="1828800" cy="438912"/>
          </a:xfrm>
          <a:prstGeom prst="roundRect">
            <a:avLst>
              <a:gd name="adj" fmla="val 16667"/>
            </a:avLst>
          </a:prstGeom>
          <a:solidFill>
            <a:srgbClr val="141F35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RBD → Block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869680" y="3319272"/>
            <a:ext cx="1920240" cy="338328"/>
          </a:xfrm>
          <a:prstGeom prst="line">
            <a:avLst/>
          </a:prstGeom>
          <a:noFill/>
          <a:ln w="12700">
            <a:solidFill>
              <a:srgbClr val="FB923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9875520" y="3657600"/>
            <a:ext cx="1828800" cy="438912"/>
          </a:xfrm>
          <a:prstGeom prst="roundRect">
            <a:avLst>
              <a:gd name="adj" fmla="val 16667"/>
            </a:avLst>
          </a:prstGeom>
          <a:solidFill>
            <a:srgbClr val="141F35"/>
          </a:solidFill>
          <a:ln w="15875">
            <a:solidFill>
              <a:srgbClr val="2C3F5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CephFS → File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61772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16223A"/>
          </a:solidFill>
          <a:ln w="15875">
            <a:solidFill>
              <a:srgbClr val="FB923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veri yerleşimi: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→ PG → CRUSH → OSD → Disk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39535" y="461772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16223A"/>
          </a:solidFill>
          <a:ln w="15875">
            <a:solidFill>
              <a:srgbClr val="38BDF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koruma (data protection):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 /  Erasure Coding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566928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97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Storage, Object Storage ve Veri Dayanıklılığı — bir arada.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&amp; MinIO  ·  DAĞITIK DEPOLAMA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2009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— KAYNAKÇA</a:t>
            </a:r>
            <a:endParaRPr lang="en-US" sz="1200" dirty="0"/>
          </a:p>
        </p:txBody>
      </p:sp>
      <p:sp>
        <p:nvSpPr>
          <p:cNvPr id="4" name="Text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Kaynakça</a:t>
            </a:r>
            <a:endParaRPr lang="en-US" sz="2800" dirty="0"/>
          </a:p>
        </p:txBody>
      </p:sp>
      <p:sp>
        <p:nvSpPr>
          <p:cNvPr id="5" name="RefBlock"/>
          <p:cNvSpPr/>
          <p:nvPr/>
        </p:nvSpPr>
        <p:spPr>
          <a:xfrm>
            <a:off x="502920" y="1417320"/>
            <a:ext cx="5450000" cy="5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 spc="50" dirty="0">
                <a:solidFill>
                  <a:srgbClr val="FB923C"/>
                </a:solidFill>
                <a:latin typeface="Calibri" pitchFamily="34" charset="0"/>
              </a:rPr>
              <a:t>CEPH — RESMİ DOKÜMANTASYON</a:t>
            </a:r>
            <a:endParaRPr lang="en-US" sz="11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AF0FA"/>
                </a:solidFill>
                <a:latin typeface="Calibri" pitchFamily="34" charset="0"/>
              </a:rPr>
              <a:t>Ceph Documentation</a:t>
            </a:r>
            <a:br>
              <a:rPr lang="en-US" sz="850" dirty="0"/>
            </a:br>
            <a:r>
              <a:rPr lang="en-US" sz="850" dirty="0">
                <a:solidFill>
                  <a:srgbClr val="6C7B98"/>
                </a:solidFill>
                <a:latin typeface="Calibri" pitchFamily="34" charset="0"/>
              </a:rPr>
              <a:t>docs.ceph.com</a:t>
            </a:r>
            <a:endParaRPr lang="en-US" sz="8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AF0FA"/>
                </a:solidFill>
                <a:latin typeface="Calibri" pitchFamily="34" charset="0"/>
              </a:rPr>
              <a:t>Ceph Architecture (RADOS, CRUSH, Peering, Self-Healing)</a:t>
            </a:r>
            <a:br>
              <a:rPr lang="en-US" sz="850" dirty="0"/>
            </a:br>
            <a:r>
              <a:rPr lang="en-US" sz="850" dirty="0">
                <a:solidFill>
                  <a:srgbClr val="6C7B98"/>
                </a:solidFill>
                <a:latin typeface="Calibri" pitchFamily="34" charset="0"/>
              </a:rPr>
              <a:t>docs.ceph.com/en/reef/architecture</a:t>
            </a:r>
            <a:endParaRPr lang="en-US" sz="8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AF0FA"/>
                </a:solidFill>
                <a:latin typeface="Calibri" pitchFamily="34" charset="0"/>
              </a:rPr>
              <a:t>Erasure Code</a:t>
            </a:r>
            <a:br>
              <a:rPr lang="en-US" sz="850" dirty="0"/>
            </a:br>
            <a:r>
              <a:rPr lang="en-US" sz="850" dirty="0">
                <a:solidFill>
                  <a:srgbClr val="6C7B98"/>
                </a:solidFill>
                <a:latin typeface="Calibri" pitchFamily="34" charset="0"/>
              </a:rPr>
              <a:t>docs.ceph.com/en/reef/rados/operations/erasure-code</a:t>
            </a:r>
            <a:endParaRPr lang="en-US" sz="8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AF0FA"/>
                </a:solidFill>
                <a:latin typeface="Calibri" pitchFamily="34" charset="0"/>
              </a:rPr>
              <a:t>Ceph Block Device (RBD)</a:t>
            </a:r>
            <a:br>
              <a:rPr lang="en-US" sz="850" dirty="0"/>
            </a:br>
            <a:r>
              <a:rPr lang="en-US" sz="850" dirty="0">
                <a:solidFill>
                  <a:srgbClr val="6C7B98"/>
                </a:solidFill>
                <a:latin typeface="Calibri" pitchFamily="34" charset="0"/>
              </a:rPr>
              <a:t>docs.ceph.com/en/latest/rbd</a:t>
            </a:r>
            <a:endParaRPr lang="en-US" sz="8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AF0FA"/>
                </a:solidFill>
                <a:latin typeface="Calibri" pitchFamily="34" charset="0"/>
              </a:rPr>
              <a:t>Ceph File System (CephFS)</a:t>
            </a:r>
            <a:br>
              <a:rPr lang="en-US" sz="850" dirty="0"/>
            </a:br>
            <a:r>
              <a:rPr lang="en-US" sz="850" dirty="0">
                <a:solidFill>
                  <a:srgbClr val="6C7B98"/>
                </a:solidFill>
                <a:latin typeface="Calibri" pitchFamily="34" charset="0"/>
              </a:rPr>
              <a:t>docs.ceph.com/en/latest/cephfs</a:t>
            </a:r>
            <a:endParaRPr lang="en-US" sz="8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AF0FA"/>
                </a:solidFill>
                <a:latin typeface="Calibri" pitchFamily="34" charset="0"/>
              </a:rPr>
              <a:t>CephFS Dynamic Metadata Management</a:t>
            </a:r>
            <a:br>
              <a:rPr lang="en-US" sz="850" dirty="0"/>
            </a:br>
            <a:r>
              <a:rPr lang="en-US" sz="850" dirty="0">
                <a:solidFill>
                  <a:srgbClr val="6C7B98"/>
                </a:solidFill>
                <a:latin typeface="Calibri" pitchFamily="34" charset="0"/>
              </a:rPr>
              <a:t>docs.ceph.com/en/latest/cephfs/dynamic-metadata-management</a:t>
            </a:r>
            <a:endParaRPr lang="en-US" sz="8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AF0FA"/>
                </a:solidFill>
                <a:latin typeface="Calibri" pitchFamily="34" charset="0"/>
              </a:rPr>
              <a:t>Ceph Object Gateway (RGW / S3 API)</a:t>
            </a:r>
            <a:br>
              <a:rPr lang="en-US" sz="850" dirty="0"/>
            </a:br>
            <a:r>
              <a:rPr lang="en-US" sz="850" dirty="0">
                <a:solidFill>
                  <a:srgbClr val="6C7B98"/>
                </a:solidFill>
                <a:latin typeface="Calibri" pitchFamily="34" charset="0"/>
              </a:rPr>
              <a:t>docs.ceph.com/en/latest/radosgw</a:t>
            </a:r>
            <a:endParaRPr lang="en-US" sz="850" dirty="0"/>
          </a:p>
          <a:p>
            <a:pPr marL="0" indent="0" algn="l">
              <a:buNone/>
            </a:pPr>
            <a:endParaRPr lang="en-US" sz="400" dirty="0"/>
          </a:p>
          <a:p>
            <a:pPr marL="0" indent="0" algn="l">
              <a:buNone/>
            </a:pPr>
            <a:r>
              <a:rPr lang="en-US" sz="1150" b="1" spc="50" dirty="0">
                <a:solidFill>
                  <a:srgbClr val="FB923C"/>
                </a:solidFill>
                <a:latin typeface="Calibri" pitchFamily="34" charset="0"/>
              </a:rPr>
              <a:t>CEPH — AKADEMİK KAYNAKLAR</a:t>
            </a:r>
            <a:endParaRPr lang="en-US" sz="11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AF0FA"/>
                </a:solidFill>
                <a:latin typeface="Calibri" pitchFamily="34" charset="0"/>
              </a:rPr>
              <a:t>Weil et al., "CRUSH: Controlled, Scalable, Decentralized Placement of Replicated Data", SC’06</a:t>
            </a:r>
            <a:br>
              <a:rPr lang="en-US" sz="850" dirty="0"/>
            </a:br>
            <a:r>
              <a:rPr lang="en-US" sz="850" dirty="0">
                <a:solidFill>
                  <a:srgbClr val="6C7B98"/>
                </a:solidFill>
                <a:latin typeface="Calibri" pitchFamily="34" charset="0"/>
              </a:rPr>
              <a:t>ceph.com/assets/pdfs/weil-crush-sc06.pdf</a:t>
            </a:r>
            <a:endParaRPr lang="en-US" sz="8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AF0FA"/>
                </a:solidFill>
                <a:latin typeface="Calibri" pitchFamily="34" charset="0"/>
              </a:rPr>
              <a:t>Weil et al., "Ceph: A Scalable, High-Performance Distributed File System", OSDI’06</a:t>
            </a:r>
            <a:br>
              <a:rPr lang="en-US" sz="850" dirty="0"/>
            </a:br>
            <a:r>
              <a:rPr lang="en-US" sz="850" dirty="0">
                <a:solidFill>
                  <a:srgbClr val="6C7B98"/>
                </a:solidFill>
                <a:latin typeface="Calibri" pitchFamily="34" charset="0"/>
              </a:rPr>
              <a:t>ssrc.ucsc.edu/Papers/weil-osdi06.pdf</a:t>
            </a:r>
            <a:endParaRPr lang="tr-TR" sz="850" dirty="0">
              <a:solidFill>
                <a:srgbClr val="6C7B98"/>
              </a:solidFill>
              <a:latin typeface="Calibri" pitchFamily="34" charset="0"/>
            </a:endParaRPr>
          </a:p>
          <a:p>
            <a:pPr marL="0" indent="0" algn="l">
              <a:buNone/>
            </a:pPr>
            <a:endParaRPr lang="tr-TR" sz="850" dirty="0">
              <a:solidFill>
                <a:srgbClr val="6C7B98"/>
              </a:solidFill>
              <a:latin typeface="Calibri" pitchFamily="34" charset="0"/>
            </a:endParaRPr>
          </a:p>
          <a:p>
            <a:r>
              <a:rPr lang="en-US" sz="850" dirty="0">
                <a:solidFill>
                  <a:schemeClr val="bg2">
                    <a:lumMod val="90000"/>
                  </a:schemeClr>
                </a:solidFill>
              </a:rPr>
              <a:t>https://medium.com/@sametustaoglu/s3-simple-storage-service-9d90e980b5d4</a:t>
            </a:r>
          </a:p>
        </p:txBody>
      </p:sp>
      <p:sp>
        <p:nvSpPr>
          <p:cNvPr id="6" name="RefBlock"/>
          <p:cNvSpPr/>
          <p:nvPr/>
        </p:nvSpPr>
        <p:spPr>
          <a:xfrm>
            <a:off x="6238775" y="1417320"/>
            <a:ext cx="5450000" cy="5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 spc="50" dirty="0">
                <a:solidFill>
                  <a:srgbClr val="38BDF8"/>
                </a:solidFill>
                <a:latin typeface="Calibri" pitchFamily="34" charset="0"/>
              </a:rPr>
              <a:t>MINIO &amp; AMAZON S3</a:t>
            </a:r>
            <a:endParaRPr lang="en-US" sz="11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AF0FA"/>
                </a:solidFill>
                <a:latin typeface="Calibri" pitchFamily="34" charset="0"/>
              </a:rPr>
              <a:t>MinIO — S3 Uyumlu Object Storage</a:t>
            </a:r>
            <a:br>
              <a:rPr lang="en-US" sz="850" dirty="0"/>
            </a:br>
            <a:r>
              <a:rPr lang="en-US" sz="850" dirty="0">
                <a:solidFill>
                  <a:srgbClr val="6C7B98"/>
                </a:solidFill>
                <a:latin typeface="Calibri" pitchFamily="34" charset="0"/>
              </a:rPr>
              <a:t>min.io</a:t>
            </a:r>
            <a:endParaRPr lang="en-US" sz="8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AF0FA"/>
                </a:solidFill>
                <a:latin typeface="Calibri" pitchFamily="34" charset="0"/>
              </a:rPr>
              <a:t>MinIO (Kaynak Kod)</a:t>
            </a:r>
            <a:br>
              <a:rPr lang="en-US" sz="850" dirty="0"/>
            </a:br>
            <a:r>
              <a:rPr lang="en-US" sz="850" dirty="0">
                <a:solidFill>
                  <a:srgbClr val="6C7B98"/>
                </a:solidFill>
                <a:latin typeface="Calibri" pitchFamily="34" charset="0"/>
              </a:rPr>
              <a:t>github.com/minio/minio</a:t>
            </a:r>
            <a:endParaRPr lang="en-US" sz="8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AF0FA"/>
                </a:solidFill>
                <a:latin typeface="Calibri" pitchFamily="34" charset="0"/>
              </a:rPr>
              <a:t>Amazon S3 Kullanıcı Kılavuzu</a:t>
            </a:r>
            <a:br>
              <a:rPr lang="en-US" sz="850" dirty="0"/>
            </a:br>
            <a:r>
              <a:rPr lang="en-US" sz="850" dirty="0">
                <a:solidFill>
                  <a:srgbClr val="6C7B98"/>
                </a:solidFill>
                <a:latin typeface="Calibri" pitchFamily="34" charset="0"/>
              </a:rPr>
              <a:t>docs.aws.amazon.com/AmazonS3/latest/userguide</a:t>
            </a:r>
            <a:endParaRPr lang="en-US" sz="8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AF0FA"/>
                </a:solidFill>
                <a:latin typeface="Calibri" pitchFamily="34" charset="0"/>
              </a:rPr>
              <a:t>Server-Side Encryption with AWS KMS (SSE-KMS)</a:t>
            </a:r>
            <a:br>
              <a:rPr lang="en-US" sz="850" dirty="0"/>
            </a:br>
            <a:r>
              <a:rPr lang="en-US" sz="850" dirty="0">
                <a:solidFill>
                  <a:srgbClr val="6C7B98"/>
                </a:solidFill>
                <a:latin typeface="Calibri" pitchFamily="34" charset="0"/>
              </a:rPr>
              <a:t>docs.aws.amazon.com/AmazonS3/.../specifying-kms-encryption</a:t>
            </a:r>
            <a:endParaRPr lang="en-US" sz="8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AF0FA"/>
                </a:solidFill>
                <a:latin typeface="Calibri" pitchFamily="34" charset="0"/>
              </a:rPr>
              <a:t>Protecting Data Using Client-Side Encryption</a:t>
            </a:r>
            <a:br>
              <a:rPr lang="en-US" sz="850" dirty="0"/>
            </a:br>
            <a:r>
              <a:rPr lang="en-US" sz="850" dirty="0">
                <a:solidFill>
                  <a:srgbClr val="6C7B98"/>
                </a:solidFill>
                <a:latin typeface="Calibri" pitchFamily="34" charset="0"/>
              </a:rPr>
              <a:t>docs.aws.amazon.com/AmazonS3/.../UsingClientSideEncryption</a:t>
            </a:r>
            <a:endParaRPr lang="en-US" sz="850" dirty="0"/>
          </a:p>
          <a:p>
            <a:pPr marL="0" indent="0" algn="l">
              <a:buNone/>
            </a:pPr>
            <a:endParaRPr lang="en-US" sz="400" dirty="0"/>
          </a:p>
          <a:p>
            <a:pPr marL="0" indent="0" algn="l">
              <a:buNone/>
            </a:pPr>
            <a:r>
              <a:rPr lang="en-US" sz="1150" b="1" spc="50" dirty="0">
                <a:solidFill>
                  <a:srgbClr val="38BDF8"/>
                </a:solidFill>
                <a:latin typeface="Calibri" pitchFamily="34" charset="0"/>
              </a:rPr>
              <a:t>GENEL KAVRAMLAR &amp; BAĞLAM</a:t>
            </a:r>
            <a:endParaRPr lang="en-US" sz="11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AF0FA"/>
                </a:solidFill>
                <a:latin typeface="Calibri" pitchFamily="34" charset="0"/>
              </a:rPr>
              <a:t>Object vs Block vs File Storage</a:t>
            </a:r>
            <a:br>
              <a:rPr lang="en-US" sz="850" dirty="0"/>
            </a:br>
            <a:r>
              <a:rPr lang="en-US" sz="850" dirty="0">
                <a:solidFill>
                  <a:srgbClr val="6C7B98"/>
                </a:solidFill>
                <a:latin typeface="Calibri" pitchFamily="34" charset="0"/>
              </a:rPr>
              <a:t>cloud.google.com/discover/object-vs-block-vs-file-storage</a:t>
            </a:r>
            <a:endParaRPr lang="en-US" sz="8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AF0FA"/>
                </a:solidFill>
                <a:latin typeface="Calibri" pitchFamily="34" charset="0"/>
              </a:rPr>
              <a:t>Doğu Anadolu Gözlemevi (DAĞ)</a:t>
            </a:r>
            <a:br>
              <a:rPr lang="en-US" sz="850" dirty="0"/>
            </a:br>
            <a:r>
              <a:rPr lang="en-US" sz="850" dirty="0">
                <a:solidFill>
                  <a:srgbClr val="6C7B98"/>
                </a:solidFill>
                <a:latin typeface="Calibri" pitchFamily="34" charset="0"/>
              </a:rPr>
              <a:t>tua.gov.tr/tr/haberler/dogu-anadolu-gozlemevi-icin-geri-sayim</a:t>
            </a:r>
            <a:endParaRPr lang="en-US" sz="850" dirty="0"/>
          </a:p>
        </p:txBody>
      </p:sp>
      <p:sp>
        <p:nvSpPr>
          <p:cNvPr id="7" name="Text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&amp; MinIO  ·  DAĞITIK DEPOLAMA</a:t>
            </a:r>
            <a:endParaRPr lang="en-US" sz="900" dirty="0"/>
          </a:p>
        </p:txBody>
      </p:sp>
      <p:sp>
        <p:nvSpPr>
          <p:cNvPr id="8" name="Text"/>
          <p:cNvSpPr/>
          <p:nvPr/>
        </p:nvSpPr>
        <p:spPr>
          <a:xfrm>
            <a:off x="1082009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1779</Words>
  <Application>Microsoft Office PowerPoint</Application>
  <PresentationFormat>Geniş ekran</PresentationFormat>
  <Paragraphs>403</Paragraphs>
  <Slides>24</Slides>
  <Notes>22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24</vt:i4>
      </vt:variant>
    </vt:vector>
  </HeadingPairs>
  <TitlesOfParts>
    <vt:vector size="28" baseType="lpstr">
      <vt:lpstr>Arial</vt:lpstr>
      <vt:lpstr>Calibri</vt:lpstr>
      <vt:lpstr>Cambria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CANSU GUZEL</cp:lastModifiedBy>
  <cp:revision>4</cp:revision>
  <dcterms:created xsi:type="dcterms:W3CDTF">2026-09-15T06:03:17Z</dcterms:created>
  <dcterms:modified xsi:type="dcterms:W3CDTF">2026-09-17T11:35:53Z</dcterms:modified>
</cp:coreProperties>
</file>